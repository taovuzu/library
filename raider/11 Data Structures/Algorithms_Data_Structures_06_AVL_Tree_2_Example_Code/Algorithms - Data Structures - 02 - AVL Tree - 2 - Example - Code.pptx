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305" r:id="rId3"/>
    <p:sldId id="306" r:id="rId4"/>
    <p:sldId id="303" r:id="rId5"/>
    <p:sldId id="304" r:id="rId6"/>
    <p:sldId id="302" r:id="rId7"/>
    <p:sldId id="307" r:id="rId8"/>
    <p:sldId id="308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3" r:id="rId20"/>
    <p:sldId id="324" r:id="rId21"/>
    <p:sldId id="325" r:id="rId22"/>
    <p:sldId id="327" r:id="rId23"/>
    <p:sldId id="328" r:id="rId24"/>
    <p:sldId id="331" r:id="rId25"/>
    <p:sldId id="329" r:id="rId26"/>
    <p:sldId id="330" r:id="rId27"/>
    <p:sldId id="332" r:id="rId28"/>
    <p:sldId id="333" r:id="rId29"/>
    <p:sldId id="33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41" autoAdjust="0"/>
    <p:restoredTop sz="93662" autoAdjust="0"/>
  </p:normalViewPr>
  <p:slideViewPr>
    <p:cSldViewPr>
      <p:cViewPr varScale="1">
        <p:scale>
          <a:sx n="70" d="100"/>
          <a:sy n="70" d="100"/>
        </p:scale>
        <p:origin x="-13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E5388-9573-4116-B1ED-9D80EF32CF9A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FC01A-2049-4A9A-BFB9-09F16132D5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Image </a:t>
            </a:r>
            <a:r>
              <a:rPr lang="en-US" dirty="0" err="1" smtClean="0"/>
              <a:t>Src</a:t>
            </a:r>
            <a:r>
              <a:rPr lang="en-US" dirty="0" smtClean="0"/>
              <a:t>: http://upload.wikimedia.org/wikipedia/commons/f/f5/AVL_Tree_Rebalancing.svg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FC01A-2049-4A9A-BFB9-09F16132D5B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Image </a:t>
            </a:r>
            <a:r>
              <a:rPr lang="en-US" dirty="0" err="1" smtClean="0"/>
              <a:t>Src</a:t>
            </a:r>
            <a:r>
              <a:rPr lang="en-US" dirty="0" smtClean="0"/>
              <a:t>: http://upload.wikimedia.org/wikipedia/commons/f/f5/AVL_Tree_Rebalancing.svg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FC01A-2049-4A9A-BFB9-09F16132D5B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Input rearranged from an AVL lecture from </a:t>
            </a:r>
            <a:r>
              <a:rPr lang="en-US" dirty="0" err="1" smtClean="0"/>
              <a:t>CodeMasry</a:t>
            </a:r>
            <a:r>
              <a:rPr lang="en-US" dirty="0" smtClean="0"/>
              <a:t> Channel</a:t>
            </a:r>
          </a:p>
          <a:p>
            <a:r>
              <a:rPr lang="en-US" dirty="0" smtClean="0"/>
              <a:t>Channel input:</a:t>
            </a:r>
            <a:r>
              <a:rPr lang="en-US" baseline="0" dirty="0" smtClean="0"/>
              <a:t> 100 120 140 80 60 90 130 145 135 110 137</a:t>
            </a:r>
          </a:p>
          <a:p>
            <a:r>
              <a:rPr lang="en-US" baseline="0" dirty="0" smtClean="0"/>
              <a:t>Thanks for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FC01A-2049-4A9A-BFB9-09F16132D5B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2C8014E-ED4E-442F-82C6-6A0BBE5F4299}" type="datetimeFigureOut">
              <a:rPr lang="en-US" smtClean="0"/>
              <a:pPr/>
              <a:t>1/15/2014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7BB7CA3B-7C13-49F8-8638-3C7608418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AVL Tree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579120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 Mostafa Saad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 Balance Factor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343400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15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1905000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6934200" y="2514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762000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3048000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12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6019800" y="3352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16</a:t>
            </a:r>
            <a:endParaRPr lang="en-US" dirty="0"/>
          </a:p>
        </p:txBody>
      </p:sp>
      <p:cxnSp>
        <p:nvCxnSpPr>
          <p:cNvPr id="30" name="Straight Connector 29"/>
          <p:cNvCxnSpPr>
            <a:stCxn id="5" idx="4"/>
            <a:endCxn id="18" idx="0"/>
          </p:cNvCxnSpPr>
          <p:nvPr/>
        </p:nvCxnSpPr>
        <p:spPr>
          <a:xfrm rot="5400000">
            <a:off x="3200400" y="1143000"/>
            <a:ext cx="457200" cy="2438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5" idx="4"/>
            <a:endCxn id="19" idx="0"/>
          </p:cNvCxnSpPr>
          <p:nvPr/>
        </p:nvCxnSpPr>
        <p:spPr>
          <a:xfrm rot="16200000" flipH="1">
            <a:off x="5753100" y="1028700"/>
            <a:ext cx="381000" cy="259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8" idx="4"/>
            <a:endCxn id="20" idx="0"/>
          </p:cNvCxnSpPr>
          <p:nvPr/>
        </p:nvCxnSpPr>
        <p:spPr>
          <a:xfrm rot="5400000">
            <a:off x="1447800" y="2667000"/>
            <a:ext cx="381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8" idx="4"/>
            <a:endCxn id="21" idx="0"/>
          </p:cNvCxnSpPr>
          <p:nvPr/>
        </p:nvCxnSpPr>
        <p:spPr>
          <a:xfrm rot="16200000" flipH="1">
            <a:off x="2590800" y="2667000"/>
            <a:ext cx="381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4"/>
            <a:endCxn id="22" idx="0"/>
          </p:cNvCxnSpPr>
          <p:nvPr/>
        </p:nvCxnSpPr>
        <p:spPr>
          <a:xfrm rot="5400000">
            <a:off x="6591300" y="2705100"/>
            <a:ext cx="3810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343400" y="4267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13</a:t>
            </a:r>
            <a:endParaRPr lang="en-US" dirty="0"/>
          </a:p>
        </p:txBody>
      </p:sp>
      <p:cxnSp>
        <p:nvCxnSpPr>
          <p:cNvPr id="16" name="Straight Connector 15"/>
          <p:cNvCxnSpPr>
            <a:endCxn id="15" idx="0"/>
          </p:cNvCxnSpPr>
          <p:nvPr/>
        </p:nvCxnSpPr>
        <p:spPr>
          <a:xfrm rot="16200000" flipH="1">
            <a:off x="3886200" y="3505200"/>
            <a:ext cx="381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53200" y="4953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105400" y="41910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5715000" y="50292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14</a:t>
            </a:r>
            <a:endParaRPr lang="en-US" dirty="0"/>
          </a:p>
        </p:txBody>
      </p:sp>
      <p:cxnSp>
        <p:nvCxnSpPr>
          <p:cNvPr id="35" name="Straight Connector 34"/>
          <p:cNvCxnSpPr>
            <a:endCxn id="33" idx="0"/>
          </p:cNvCxnSpPr>
          <p:nvPr/>
        </p:nvCxnSpPr>
        <p:spPr>
          <a:xfrm rot="16200000" flipH="1">
            <a:off x="5257800" y="4267201"/>
            <a:ext cx="381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10000" y="33528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Bf = -2</a:t>
            </a:r>
            <a:endParaRPr lang="en-US" b="1" u="sng" dirty="0"/>
          </a:p>
        </p:txBody>
      </p:sp>
      <p:sp>
        <p:nvSpPr>
          <p:cNvPr id="25" name="TextBox 24"/>
          <p:cNvSpPr txBox="1"/>
          <p:nvPr/>
        </p:nvSpPr>
        <p:spPr>
          <a:xfrm>
            <a:off x="609600" y="5029200"/>
            <a:ext cx="2904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left height – right height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 Balance Factor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343400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15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1905000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6934200" y="2514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762000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3048000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12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6019800" y="3352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16</a:t>
            </a:r>
            <a:endParaRPr lang="en-US" dirty="0"/>
          </a:p>
        </p:txBody>
      </p:sp>
      <p:cxnSp>
        <p:nvCxnSpPr>
          <p:cNvPr id="30" name="Straight Connector 29"/>
          <p:cNvCxnSpPr>
            <a:stCxn id="5" idx="4"/>
            <a:endCxn id="18" idx="0"/>
          </p:cNvCxnSpPr>
          <p:nvPr/>
        </p:nvCxnSpPr>
        <p:spPr>
          <a:xfrm rot="5400000">
            <a:off x="3200400" y="1143000"/>
            <a:ext cx="457200" cy="2438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5" idx="4"/>
            <a:endCxn id="19" idx="0"/>
          </p:cNvCxnSpPr>
          <p:nvPr/>
        </p:nvCxnSpPr>
        <p:spPr>
          <a:xfrm rot="16200000" flipH="1">
            <a:off x="5753100" y="1028700"/>
            <a:ext cx="381000" cy="259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8" idx="4"/>
            <a:endCxn id="20" idx="0"/>
          </p:cNvCxnSpPr>
          <p:nvPr/>
        </p:nvCxnSpPr>
        <p:spPr>
          <a:xfrm rot="5400000">
            <a:off x="1447800" y="2667000"/>
            <a:ext cx="381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8" idx="4"/>
            <a:endCxn id="21" idx="0"/>
          </p:cNvCxnSpPr>
          <p:nvPr/>
        </p:nvCxnSpPr>
        <p:spPr>
          <a:xfrm rot="16200000" flipH="1">
            <a:off x="2590800" y="2667000"/>
            <a:ext cx="381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4"/>
            <a:endCxn id="22" idx="0"/>
          </p:cNvCxnSpPr>
          <p:nvPr/>
        </p:nvCxnSpPr>
        <p:spPr>
          <a:xfrm rot="5400000">
            <a:off x="6591300" y="2705100"/>
            <a:ext cx="3810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038600" y="4267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14</a:t>
            </a:r>
            <a:endParaRPr lang="en-US" dirty="0"/>
          </a:p>
        </p:txBody>
      </p:sp>
      <p:cxnSp>
        <p:nvCxnSpPr>
          <p:cNvPr id="16" name="Straight Connector 15"/>
          <p:cNvCxnSpPr>
            <a:stCxn id="21" idx="4"/>
            <a:endCxn id="15" idx="0"/>
          </p:cNvCxnSpPr>
          <p:nvPr/>
        </p:nvCxnSpPr>
        <p:spPr>
          <a:xfrm rot="16200000" flipH="1">
            <a:off x="3657600" y="3581400"/>
            <a:ext cx="3810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24000" y="44196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00600" y="4343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2438400" y="4267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13</a:t>
            </a:r>
            <a:endParaRPr lang="en-US" dirty="0"/>
          </a:p>
        </p:txBody>
      </p:sp>
      <p:cxnSp>
        <p:nvCxnSpPr>
          <p:cNvPr id="35" name="Straight Connector 34"/>
          <p:cNvCxnSpPr>
            <a:stCxn id="21" idx="4"/>
            <a:endCxn id="33" idx="0"/>
          </p:cNvCxnSpPr>
          <p:nvPr/>
        </p:nvCxnSpPr>
        <p:spPr>
          <a:xfrm rot="5400000">
            <a:off x="2857500" y="3771900"/>
            <a:ext cx="3810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10000" y="3352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743200" y="26670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181600" y="1600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LR =&gt; LL =&gt; B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" y="1752600"/>
            <a:ext cx="196215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76600" y="1676400"/>
            <a:ext cx="193357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77000" y="2286000"/>
            <a:ext cx="20955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ight Arrow 6"/>
          <p:cNvSpPr/>
          <p:nvPr/>
        </p:nvSpPr>
        <p:spPr>
          <a:xfrm>
            <a:off x="1752600" y="3276600"/>
            <a:ext cx="18288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Left Rotation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4953000" y="3276600"/>
            <a:ext cx="18288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Right Rotation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8200" y="5334000"/>
            <a:ext cx="67769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Imagine that: A, B, C, D are possible 4 sub-trees</a:t>
            </a:r>
          </a:p>
          <a:p>
            <a:r>
              <a:rPr lang="en-US" dirty="0" smtClean="0"/>
              <a:t>We would like to do rotations to balance the 3 nodes causing a problem</a:t>
            </a:r>
          </a:p>
          <a:p>
            <a:r>
              <a:rPr lang="en-US" dirty="0" smtClean="0"/>
              <a:t>But keep the BST property correct</a:t>
            </a:r>
          </a:p>
          <a:p>
            <a:endParaRPr lang="en-US" dirty="0" smtClean="0"/>
          </a:p>
          <a:p>
            <a:r>
              <a:rPr lang="en-US" dirty="0" smtClean="0"/>
              <a:t>You may think: A = 2, B = 3.5, C = 4.5, D = 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RL =&gt; RR =&gt; B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72300" y="2286000"/>
            <a:ext cx="20955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ight Arrow 6"/>
          <p:cNvSpPr/>
          <p:nvPr/>
        </p:nvSpPr>
        <p:spPr>
          <a:xfrm>
            <a:off x="1752600" y="3276600"/>
            <a:ext cx="18288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Right Rotation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5448300" y="3276600"/>
            <a:ext cx="18288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Left Rotation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62000" y="5562600"/>
            <a:ext cx="7584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you checked to the A, B, C, D order in the 3 shapes, you will find them sorted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" y="1914525"/>
            <a:ext cx="160020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67125" y="1914525"/>
            <a:ext cx="1895475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general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smtClean="0"/>
              <a:t>1- Add the element to the BST in normal way</a:t>
            </a:r>
          </a:p>
          <a:p>
            <a:pPr lvl="1"/>
            <a:r>
              <a:rPr lang="en-US" dirty="0" smtClean="0"/>
              <a:t>2- Let current node = just added one</a:t>
            </a:r>
          </a:p>
          <a:p>
            <a:pPr lvl="1"/>
            <a:r>
              <a:rPr lang="en-US" dirty="0" smtClean="0"/>
              <a:t>3- Calculate BF</a:t>
            </a:r>
          </a:p>
          <a:p>
            <a:pPr lvl="1"/>
            <a:r>
              <a:rPr lang="en-US" dirty="0" smtClean="0"/>
              <a:t>4- if |BF| &gt; 1, we have an AVL unbalance</a:t>
            </a:r>
          </a:p>
          <a:p>
            <a:pPr lvl="2"/>
            <a:r>
              <a:rPr lang="en-US" dirty="0" smtClean="0"/>
              <a:t>If we are in case (3 or 4), convert to case (1 or 2)</a:t>
            </a:r>
          </a:p>
          <a:p>
            <a:pPr lvl="2"/>
            <a:r>
              <a:rPr lang="en-US" dirty="0" smtClean="0"/>
              <a:t>If new in case 1 or 2, handle them</a:t>
            </a:r>
          </a:p>
          <a:p>
            <a:pPr lvl="1"/>
            <a:r>
              <a:rPr lang="en-US" dirty="0" smtClean="0"/>
              <a:t>Let current node = parent</a:t>
            </a:r>
          </a:p>
          <a:p>
            <a:pPr lvl="1"/>
            <a:r>
              <a:rPr lang="en-US" dirty="0" smtClean="0"/>
              <a:t>Go to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Same steps as in BST</a:t>
            </a:r>
          </a:p>
          <a:p>
            <a:r>
              <a:rPr lang="en-US" dirty="0" smtClean="0"/>
              <a:t>Start from where the node deleted (according to the 3 cases) and behave as the insertion in AVL( calc BF and do rotations if |BF| &gt; 1)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simulate a big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following AVL tree for input</a:t>
            </a:r>
          </a:p>
          <a:p>
            <a:r>
              <a:rPr lang="en-US" dirty="0" smtClean="0"/>
              <a:t>3   5   9   1  0  2  6   10  7   4   8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 [5 9 1 0 2 6 10 7 4 8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414825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329225" y="1676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</a:t>
            </a:r>
            <a:r>
              <a:rPr lang="en-US" dirty="0" smtClean="0"/>
              <a:t>5 </a:t>
            </a:r>
            <a:r>
              <a:rPr lang="en-US" dirty="0" smtClean="0"/>
              <a:t>[9 </a:t>
            </a:r>
            <a:r>
              <a:rPr lang="en-US" dirty="0" smtClean="0"/>
              <a:t>1 0 2 6 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414825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329225" y="16764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938825" y="2286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264185" y="1589040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24625" y="2286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</a:t>
            </a:r>
            <a:r>
              <a:rPr lang="en-US" dirty="0" smtClean="0"/>
              <a:t>9 </a:t>
            </a:r>
            <a:r>
              <a:rPr lang="en-US" dirty="0" smtClean="0"/>
              <a:t>[1 </a:t>
            </a:r>
            <a:r>
              <a:rPr lang="en-US" dirty="0" smtClean="0"/>
              <a:t>0 2 6 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414825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329225" y="16764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-2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938825" y="2286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264185" y="1589040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24625" y="22860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615225" y="28956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1"/>
          </p:cNvCxnSpPr>
          <p:nvPr/>
        </p:nvCxnSpPr>
        <p:spPr>
          <a:xfrm rot="16200000" flipH="1">
            <a:off x="5940585" y="2198641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1025" y="2895601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971800"/>
            <a:ext cx="5029200" cy="2810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</a:t>
            </a:r>
            <a:r>
              <a:rPr lang="en-US" dirty="0" smtClean="0"/>
              <a:t>9 </a:t>
            </a:r>
            <a:r>
              <a:rPr lang="en-US" dirty="0" smtClean="0"/>
              <a:t>[1 </a:t>
            </a:r>
            <a:r>
              <a:rPr lang="en-US" dirty="0" smtClean="0"/>
              <a:t>0 2 6 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414825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329225" y="1676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938825" y="2286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264185" y="1589040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24625" y="2286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33600" y="2362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stCxn id="5" idx="4"/>
            <a:endCxn id="9" idx="7"/>
          </p:cNvCxnSpPr>
          <p:nvPr/>
        </p:nvCxnSpPr>
        <p:spPr>
          <a:xfrm rot="5400000">
            <a:off x="3038999" y="1748528"/>
            <a:ext cx="295555" cy="1065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95400" y="2362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</a:t>
            </a:r>
            <a:r>
              <a:rPr lang="en-US" dirty="0" smtClean="0"/>
              <a:t>1 </a:t>
            </a:r>
            <a:r>
              <a:rPr lang="en-US" dirty="0" smtClean="0"/>
              <a:t>[0 </a:t>
            </a:r>
            <a:r>
              <a:rPr lang="en-US" dirty="0" smtClean="0"/>
              <a:t>2 6 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414825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329225" y="1676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938825" y="2286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264185" y="1589040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24625" y="2286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33600" y="2362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stCxn id="5" idx="4"/>
            <a:endCxn id="9" idx="7"/>
          </p:cNvCxnSpPr>
          <p:nvPr/>
        </p:nvCxnSpPr>
        <p:spPr>
          <a:xfrm rot="5400000">
            <a:off x="3038999" y="1748528"/>
            <a:ext cx="295555" cy="1065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3505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685800" y="3048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3" name="Straight Connector 12"/>
          <p:cNvCxnSpPr>
            <a:stCxn id="9" idx="3"/>
            <a:endCxn id="12" idx="7"/>
          </p:cNvCxnSpPr>
          <p:nvPr/>
        </p:nvCxnSpPr>
        <p:spPr>
          <a:xfrm rot="5400000">
            <a:off x="1533245" y="2425326"/>
            <a:ext cx="362510" cy="1016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81225" y="2362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</a:t>
            </a:r>
            <a:r>
              <a:rPr lang="en-US" dirty="0" smtClean="0"/>
              <a:t>0 </a:t>
            </a:r>
            <a:r>
              <a:rPr lang="en-US" dirty="0" smtClean="0"/>
              <a:t>[2 </a:t>
            </a:r>
            <a:r>
              <a:rPr lang="en-US" dirty="0" smtClean="0"/>
              <a:t>6 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5091225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615225" y="2286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5940585" y="1589040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10000" y="2362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stCxn id="5" idx="4"/>
            <a:endCxn id="9" idx="7"/>
          </p:cNvCxnSpPr>
          <p:nvPr/>
        </p:nvCxnSpPr>
        <p:spPr>
          <a:xfrm rot="5400000">
            <a:off x="4715399" y="1748528"/>
            <a:ext cx="295555" cy="1065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71600" y="3048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2362200" y="3048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3" name="Straight Connector 12"/>
          <p:cNvCxnSpPr>
            <a:stCxn id="9" idx="3"/>
            <a:endCxn id="12" idx="7"/>
          </p:cNvCxnSpPr>
          <p:nvPr/>
        </p:nvCxnSpPr>
        <p:spPr>
          <a:xfrm rot="5400000">
            <a:off x="3209645" y="2425326"/>
            <a:ext cx="362510" cy="1016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57625" y="2362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2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3886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901326" y="3745468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7" name="Straight Connector 16"/>
          <p:cNvCxnSpPr>
            <a:stCxn id="12" idx="3"/>
            <a:endCxn id="16" idx="7"/>
          </p:cNvCxnSpPr>
          <p:nvPr/>
        </p:nvCxnSpPr>
        <p:spPr>
          <a:xfrm rot="5400000">
            <a:off x="1749474" y="3110423"/>
            <a:ext cx="374178" cy="102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3200400"/>
            <a:ext cx="4953000" cy="2905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</a:t>
            </a:r>
            <a:r>
              <a:rPr lang="en-US" dirty="0" smtClean="0"/>
              <a:t>0 [2 6 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5091225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615225" y="2286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5940585" y="1589040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10000" y="2362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0" name="Straight Connector 9"/>
          <p:cNvCxnSpPr>
            <a:stCxn id="5" idx="4"/>
            <a:endCxn id="9" idx="7"/>
          </p:cNvCxnSpPr>
          <p:nvPr/>
        </p:nvCxnSpPr>
        <p:spPr>
          <a:xfrm rot="5400000">
            <a:off x="4715399" y="1748528"/>
            <a:ext cx="295555" cy="1065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91200" y="32766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27432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9" idx="4"/>
            <a:endCxn id="12" idx="7"/>
          </p:cNvCxnSpPr>
          <p:nvPr/>
        </p:nvCxnSpPr>
        <p:spPr>
          <a:xfrm rot="5400000">
            <a:off x="3427086" y="2655840"/>
            <a:ext cx="52415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57625" y="2362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0" y="3352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9530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  <a:endCxn id="16" idx="1"/>
          </p:cNvCxnSpPr>
          <p:nvPr/>
        </p:nvCxnSpPr>
        <p:spPr>
          <a:xfrm rot="16200000" flipH="1">
            <a:off x="4316460" y="2617740"/>
            <a:ext cx="524155" cy="927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67600" y="2286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867400" y="1600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</a:t>
            </a:r>
            <a:r>
              <a:rPr lang="en-US" dirty="0" smtClean="0"/>
              <a:t>2 </a:t>
            </a:r>
            <a:r>
              <a:rPr lang="en-US" dirty="0" smtClean="0"/>
              <a:t>[6 </a:t>
            </a:r>
            <a:r>
              <a:rPr lang="en-US" dirty="0" smtClean="0"/>
              <a:t>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414825" y="1676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938825" y="2286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264185" y="1589040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33600" y="2362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0" name="Straight Connector 9"/>
          <p:cNvCxnSpPr>
            <a:stCxn id="5" idx="4"/>
            <a:endCxn id="9" idx="7"/>
          </p:cNvCxnSpPr>
          <p:nvPr/>
        </p:nvCxnSpPr>
        <p:spPr>
          <a:xfrm rot="5400000">
            <a:off x="3038999" y="1748528"/>
            <a:ext cx="295555" cy="1065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81400" y="2819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1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10668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9" idx="4"/>
            <a:endCxn id="12" idx="7"/>
          </p:cNvCxnSpPr>
          <p:nvPr/>
        </p:nvCxnSpPr>
        <p:spPr>
          <a:xfrm rot="5400000">
            <a:off x="1750686" y="2655840"/>
            <a:ext cx="52415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81225" y="23622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2400" y="3352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32766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  <a:endCxn id="16" idx="1"/>
          </p:cNvCxnSpPr>
          <p:nvPr/>
        </p:nvCxnSpPr>
        <p:spPr>
          <a:xfrm rot="16200000" flipH="1">
            <a:off x="2640060" y="2617740"/>
            <a:ext cx="524155" cy="927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91200" y="2286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191000" y="1600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2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1994273" y="41148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3"/>
            <a:endCxn id="18" idx="7"/>
          </p:cNvCxnSpPr>
          <p:nvPr/>
        </p:nvCxnSpPr>
        <p:spPr>
          <a:xfrm rot="5400000">
            <a:off x="2682782" y="3498663"/>
            <a:ext cx="514911" cy="851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0" y="4191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2286000" y="16764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533400" y="23622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>
            <a:off x="2209800" y="33528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2971800"/>
            <a:ext cx="4747201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762000" y="5105400"/>
            <a:ext cx="11993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= 0</a:t>
            </a:r>
          </a:p>
          <a:p>
            <a:r>
              <a:rPr lang="en-US" dirty="0" smtClean="0"/>
              <a:t>B = 2</a:t>
            </a:r>
          </a:p>
          <a:p>
            <a:r>
              <a:rPr lang="en-US" dirty="0" smtClean="0"/>
              <a:t>C = NULL</a:t>
            </a:r>
          </a:p>
          <a:p>
            <a:r>
              <a:rPr lang="en-US" dirty="0" smtClean="0"/>
              <a:t>D = 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6" grpId="0" animBg="1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</a:t>
            </a:r>
            <a:r>
              <a:rPr lang="en-US" dirty="0" smtClean="0"/>
              <a:t>2 [6 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733800" y="1524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2133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583160" y="1436640"/>
            <a:ext cx="219355" cy="1308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52575" y="2209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stCxn id="5" idx="4"/>
            <a:endCxn id="9" idx="7"/>
          </p:cNvCxnSpPr>
          <p:nvPr/>
        </p:nvCxnSpPr>
        <p:spPr>
          <a:xfrm rot="5400000">
            <a:off x="3357974" y="1596128"/>
            <a:ext cx="295555" cy="1065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1750" y="3200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103448" y="4038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933198" y="3348177"/>
            <a:ext cx="447955" cy="1066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00200" y="22098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4550" y="4572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385775" y="3200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2002462" y="2445489"/>
            <a:ext cx="533402" cy="97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313248" y="39624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7"/>
          </p:cNvCxnSpPr>
          <p:nvPr/>
        </p:nvCxnSpPr>
        <p:spPr>
          <a:xfrm rot="16200000" flipH="1">
            <a:off x="2076196" y="3271978"/>
            <a:ext cx="371756" cy="1142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14350" y="4495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3200400"/>
            <a:ext cx="4953000" cy="2905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" name="TextBox 35"/>
          <p:cNvSpPr txBox="1"/>
          <p:nvPr/>
        </p:nvSpPr>
        <p:spPr>
          <a:xfrm>
            <a:off x="1066800" y="5334000"/>
            <a:ext cx="9172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A=0</a:t>
            </a:r>
          </a:p>
          <a:p>
            <a:r>
              <a:rPr lang="en-US" dirty="0" smtClean="0"/>
              <a:t>B = 2</a:t>
            </a:r>
          </a:p>
          <a:p>
            <a:r>
              <a:rPr lang="en-US" dirty="0" smtClean="0"/>
              <a:t>C = NA</a:t>
            </a:r>
          </a:p>
          <a:p>
            <a:r>
              <a:rPr lang="en-US" dirty="0" smtClean="0"/>
              <a:t>D = 9</a:t>
            </a:r>
            <a:endParaRPr lang="en-US" dirty="0"/>
          </a:p>
        </p:txBody>
      </p:sp>
      <p:sp>
        <p:nvSpPr>
          <p:cNvPr id="37" name="Right Arrow 36"/>
          <p:cNvSpPr/>
          <p:nvPr/>
        </p:nvSpPr>
        <p:spPr>
          <a:xfrm rot="10800000">
            <a:off x="3657600" y="22860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/>
          <p:nvPr/>
        </p:nvSpPr>
        <p:spPr>
          <a:xfrm rot="10800000">
            <a:off x="2286000" y="32004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667000" y="15240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-2</a:t>
            </a:r>
            <a:endParaRPr lang="en-US" dirty="0"/>
          </a:p>
        </p:txBody>
      </p:sp>
      <p:sp>
        <p:nvSpPr>
          <p:cNvPr id="40" name="Right Arrow 39"/>
          <p:cNvSpPr/>
          <p:nvPr/>
        </p:nvSpPr>
        <p:spPr>
          <a:xfrm rot="10800000">
            <a:off x="4648200" y="15240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 animBg="1"/>
      <p:bldP spid="38" grpId="0" animBg="1"/>
      <p:bldP spid="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</a:t>
            </a:r>
            <a:r>
              <a:rPr lang="en-US" dirty="0" smtClean="0"/>
              <a:t>2 [6 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038600" y="3048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396025" y="3733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5"/>
            <a:endCxn id="6" idx="1"/>
          </p:cNvCxnSpPr>
          <p:nvPr/>
        </p:nvCxnSpPr>
        <p:spPr>
          <a:xfrm rot="16200000" flipH="1">
            <a:off x="4840857" y="3156313"/>
            <a:ext cx="362510" cy="926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52575" y="2209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4"/>
          </p:cNvCxnSpPr>
          <p:nvPr/>
        </p:nvCxnSpPr>
        <p:spPr>
          <a:xfrm rot="10800000">
            <a:off x="2757376" y="2667000"/>
            <a:ext cx="128122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1750" y="3200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18123" y="4038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1140535" y="35555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00200" y="2209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19225" y="4572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385775" y="3200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2002462" y="2445489"/>
            <a:ext cx="533402" cy="97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313248" y="39624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1"/>
          </p:cNvCxnSpPr>
          <p:nvPr/>
        </p:nvCxnSpPr>
        <p:spPr>
          <a:xfrm rot="16200000" flipH="1">
            <a:off x="1860670" y="34875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14350" y="4495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472225" y="4267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724400" y="305966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3 5 9 1 0 2 </a:t>
            </a:r>
            <a:r>
              <a:rPr lang="en-US" dirty="0" smtClean="0"/>
              <a:t>6 </a:t>
            </a:r>
            <a:r>
              <a:rPr lang="en-US" dirty="0" smtClean="0"/>
              <a:t>[10 </a:t>
            </a:r>
            <a:r>
              <a:rPr lang="en-US" dirty="0" smtClean="0"/>
              <a:t>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786644" y="2438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144069" y="3124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5"/>
            <a:endCxn id="6" idx="1"/>
          </p:cNvCxnSpPr>
          <p:nvPr/>
        </p:nvCxnSpPr>
        <p:spPr>
          <a:xfrm rot="16200000" flipH="1">
            <a:off x="4588901" y="2546713"/>
            <a:ext cx="362510" cy="926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00619" y="1600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4"/>
          </p:cNvCxnSpPr>
          <p:nvPr/>
        </p:nvCxnSpPr>
        <p:spPr>
          <a:xfrm rot="10800000">
            <a:off x="2505420" y="2057400"/>
            <a:ext cx="128122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9794" y="2590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266167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888579" y="29459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48244" y="1600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67269" y="3962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133819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1750506" y="1835889"/>
            <a:ext cx="533402" cy="97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061292" y="33528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1"/>
          </p:cNvCxnSpPr>
          <p:nvPr/>
        </p:nvCxnSpPr>
        <p:spPr>
          <a:xfrm rot="16200000" flipH="1">
            <a:off x="1608714" y="28779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62394" y="3886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220269" y="3657600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0 - (-1) = 1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472444" y="245006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-2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4091444" y="3886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cxnSp>
        <p:nvCxnSpPr>
          <p:cNvPr id="22" name="Straight Connector 21"/>
          <p:cNvCxnSpPr>
            <a:stCxn id="6" idx="3"/>
            <a:endCxn id="20" idx="7"/>
          </p:cNvCxnSpPr>
          <p:nvPr/>
        </p:nvCxnSpPr>
        <p:spPr>
          <a:xfrm rot="5400000">
            <a:off x="4703202" y="3423014"/>
            <a:ext cx="438710" cy="62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77269" y="4431268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6" name="Right Arrow 25"/>
          <p:cNvSpPr/>
          <p:nvPr/>
        </p:nvSpPr>
        <p:spPr>
          <a:xfrm rot="10800000">
            <a:off x="5463044" y="23622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 rot="10800000">
            <a:off x="6072644" y="31242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 rot="10800000">
            <a:off x="5005844" y="39624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4495800"/>
            <a:ext cx="352044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3 5 9 1 0 2 </a:t>
            </a:r>
            <a:r>
              <a:rPr lang="en-US" dirty="0" smtClean="0"/>
              <a:t>6 [10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786644" y="2438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144069" y="3124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5"/>
            <a:endCxn id="6" idx="1"/>
          </p:cNvCxnSpPr>
          <p:nvPr/>
        </p:nvCxnSpPr>
        <p:spPr>
          <a:xfrm rot="16200000" flipH="1">
            <a:off x="4588901" y="2546713"/>
            <a:ext cx="362510" cy="926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00619" y="1600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4"/>
          </p:cNvCxnSpPr>
          <p:nvPr/>
        </p:nvCxnSpPr>
        <p:spPr>
          <a:xfrm rot="10800000">
            <a:off x="2505420" y="2057400"/>
            <a:ext cx="128122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6167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888579" y="29459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33819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1750506" y="1835889"/>
            <a:ext cx="533402" cy="97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061292" y="33528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1"/>
          </p:cNvCxnSpPr>
          <p:nvPr/>
        </p:nvCxnSpPr>
        <p:spPr>
          <a:xfrm rot="16200000" flipH="1">
            <a:off x="1608714" y="28779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72444" y="245006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-2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6400800" y="3733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cxnSp>
        <p:nvCxnSpPr>
          <p:cNvPr id="22" name="Straight Connector 21"/>
          <p:cNvCxnSpPr>
            <a:stCxn id="6" idx="5"/>
            <a:endCxn id="20" idx="1"/>
          </p:cNvCxnSpPr>
          <p:nvPr/>
        </p:nvCxnSpPr>
        <p:spPr>
          <a:xfrm rot="16200000" flipH="1">
            <a:off x="5934079" y="3244760"/>
            <a:ext cx="286310" cy="8256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39000" y="3810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867400" y="30480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4267200"/>
            <a:ext cx="3938481" cy="220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3 5 9 1 0 2 </a:t>
            </a:r>
            <a:r>
              <a:rPr lang="en-US" dirty="0" smtClean="0"/>
              <a:t>6 [10 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786644" y="2438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8768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304782" y="2682262"/>
            <a:ext cx="447955" cy="874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00619" y="1600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4"/>
          </p:cNvCxnSpPr>
          <p:nvPr/>
        </p:nvCxnSpPr>
        <p:spPr>
          <a:xfrm rot="10800000">
            <a:off x="2505420" y="2057400"/>
            <a:ext cx="128122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9794" y="25908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266167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888579" y="29459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48244" y="1600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67269" y="3962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133819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1750506" y="1835889"/>
            <a:ext cx="533402" cy="97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061292" y="33528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1"/>
          </p:cNvCxnSpPr>
          <p:nvPr/>
        </p:nvCxnSpPr>
        <p:spPr>
          <a:xfrm rot="16200000" flipH="1">
            <a:off x="1608714" y="28779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62394" y="3886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472444" y="2450068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32004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cxnSp>
        <p:nvCxnSpPr>
          <p:cNvPr id="22" name="Straight Connector 21"/>
          <p:cNvCxnSpPr>
            <a:stCxn id="5" idx="4"/>
            <a:endCxn id="20" idx="1"/>
          </p:cNvCxnSpPr>
          <p:nvPr/>
        </p:nvCxnSpPr>
        <p:spPr>
          <a:xfrm rot="5400000">
            <a:off x="3466582" y="2718692"/>
            <a:ext cx="447955" cy="801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76600" y="3810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800600" y="381000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3 5 9 1 0 2 6 </a:t>
            </a:r>
            <a:r>
              <a:rPr lang="en-US" dirty="0" smtClean="0"/>
              <a:t>10 [7 4 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786644" y="2438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8768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304782" y="2682262"/>
            <a:ext cx="447955" cy="874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00619" y="1600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4"/>
          </p:cNvCxnSpPr>
          <p:nvPr/>
        </p:nvCxnSpPr>
        <p:spPr>
          <a:xfrm rot="10800000">
            <a:off x="2505420" y="2057400"/>
            <a:ext cx="128122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6167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888579" y="29459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48244" y="16002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133819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1750506" y="1835889"/>
            <a:ext cx="533402" cy="97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061292" y="33528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1"/>
          </p:cNvCxnSpPr>
          <p:nvPr/>
        </p:nvCxnSpPr>
        <p:spPr>
          <a:xfrm rot="16200000" flipH="1">
            <a:off x="1608714" y="28779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72444" y="245006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32004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cxnSp>
        <p:nvCxnSpPr>
          <p:cNvPr id="22" name="Straight Connector 21"/>
          <p:cNvCxnSpPr>
            <a:stCxn id="5" idx="4"/>
            <a:endCxn id="20" idx="1"/>
          </p:cNvCxnSpPr>
          <p:nvPr/>
        </p:nvCxnSpPr>
        <p:spPr>
          <a:xfrm rot="5400000">
            <a:off x="3466582" y="2718692"/>
            <a:ext cx="447955" cy="801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24400" y="38100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124200" y="3886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6019800" y="4038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cxnSp>
        <p:nvCxnSpPr>
          <p:cNvPr id="24" name="Straight Connector 23"/>
          <p:cNvCxnSpPr>
            <a:endCxn id="23" idx="1"/>
          </p:cNvCxnSpPr>
          <p:nvPr/>
        </p:nvCxnSpPr>
        <p:spPr>
          <a:xfrm rot="16200000" flipH="1">
            <a:off x="5497560" y="3494040"/>
            <a:ext cx="447955" cy="775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96000" y="4648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3 5 9 1 0 2 6 10 </a:t>
            </a:r>
            <a:r>
              <a:rPr lang="en-US" dirty="0" smtClean="0"/>
              <a:t>7 </a:t>
            </a:r>
            <a:r>
              <a:rPr lang="en-US" dirty="0" smtClean="0"/>
              <a:t>[4 </a:t>
            </a:r>
            <a:r>
              <a:rPr lang="en-US" dirty="0" smtClean="0"/>
              <a:t>8]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786644" y="2438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8768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304782" y="2682262"/>
            <a:ext cx="447955" cy="874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00619" y="1600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4"/>
          </p:cNvCxnSpPr>
          <p:nvPr/>
        </p:nvCxnSpPr>
        <p:spPr>
          <a:xfrm rot="10800000">
            <a:off x="2505420" y="2057400"/>
            <a:ext cx="128122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6167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888579" y="29459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48244" y="16002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133819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1750506" y="1835889"/>
            <a:ext cx="533402" cy="97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061292" y="33528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1"/>
          </p:cNvCxnSpPr>
          <p:nvPr/>
        </p:nvCxnSpPr>
        <p:spPr>
          <a:xfrm rot="16200000" flipH="1">
            <a:off x="1608714" y="28779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72444" y="245006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32004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cxnSp>
        <p:nvCxnSpPr>
          <p:cNvPr id="22" name="Straight Connector 21"/>
          <p:cNvCxnSpPr>
            <a:stCxn id="5" idx="4"/>
            <a:endCxn id="20" idx="1"/>
          </p:cNvCxnSpPr>
          <p:nvPr/>
        </p:nvCxnSpPr>
        <p:spPr>
          <a:xfrm rot="5400000">
            <a:off x="3466582" y="2718692"/>
            <a:ext cx="447955" cy="801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62600" y="32766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124200" y="3886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6019800" y="4038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cxnSp>
        <p:nvCxnSpPr>
          <p:cNvPr id="24" name="Straight Connector 23"/>
          <p:cNvCxnSpPr>
            <a:stCxn id="6" idx="4"/>
            <a:endCxn id="23" idx="1"/>
          </p:cNvCxnSpPr>
          <p:nvPr/>
        </p:nvCxnSpPr>
        <p:spPr>
          <a:xfrm rot="16200000" flipH="1">
            <a:off x="5459460" y="3455940"/>
            <a:ext cx="371755" cy="927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96000" y="4648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4038600" y="4038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cxnSp>
        <p:nvCxnSpPr>
          <p:cNvPr id="28" name="Straight Connector 27"/>
          <p:cNvCxnSpPr>
            <a:stCxn id="6" idx="4"/>
            <a:endCxn id="27" idx="7"/>
          </p:cNvCxnSpPr>
          <p:nvPr/>
        </p:nvCxnSpPr>
        <p:spPr>
          <a:xfrm rot="5400000">
            <a:off x="4684386" y="3608340"/>
            <a:ext cx="371755" cy="622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962400" y="4659868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3 5 9 1 0 2 6 10 7 </a:t>
            </a:r>
            <a:r>
              <a:rPr lang="en-US" dirty="0" smtClean="0"/>
              <a:t>4 </a:t>
            </a:r>
            <a:r>
              <a:rPr lang="en-US" dirty="0" smtClean="0"/>
              <a:t>[8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786644" y="2438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8768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4304782" y="2682262"/>
            <a:ext cx="447955" cy="874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00619" y="1600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4"/>
          </p:cNvCxnSpPr>
          <p:nvPr/>
        </p:nvCxnSpPr>
        <p:spPr>
          <a:xfrm rot="10800000">
            <a:off x="2505420" y="2057400"/>
            <a:ext cx="128122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6167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888579" y="29459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48244" y="16002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133819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1750506" y="1835889"/>
            <a:ext cx="533402" cy="97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061292" y="33528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1"/>
          </p:cNvCxnSpPr>
          <p:nvPr/>
        </p:nvCxnSpPr>
        <p:spPr>
          <a:xfrm rot="16200000" flipH="1">
            <a:off x="1608714" y="28779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72444" y="2450068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3200400" y="3276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cxnSp>
        <p:nvCxnSpPr>
          <p:cNvPr id="22" name="Straight Connector 21"/>
          <p:cNvCxnSpPr>
            <a:stCxn id="5" idx="4"/>
            <a:endCxn id="20" idx="1"/>
          </p:cNvCxnSpPr>
          <p:nvPr/>
        </p:nvCxnSpPr>
        <p:spPr>
          <a:xfrm rot="5400000">
            <a:off x="3466582" y="2718692"/>
            <a:ext cx="447955" cy="801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62600" y="32766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286000" y="4724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6019800" y="4038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cxnSp>
        <p:nvCxnSpPr>
          <p:cNvPr id="24" name="Straight Connector 23"/>
          <p:cNvCxnSpPr>
            <a:stCxn id="6" idx="4"/>
            <a:endCxn id="23" idx="1"/>
          </p:cNvCxnSpPr>
          <p:nvPr/>
        </p:nvCxnSpPr>
        <p:spPr>
          <a:xfrm rot="16200000" flipH="1">
            <a:off x="5459460" y="3455940"/>
            <a:ext cx="371755" cy="927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96000" y="46482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4038600" y="4038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cxnSp>
        <p:nvCxnSpPr>
          <p:cNvPr id="28" name="Straight Connector 27"/>
          <p:cNvCxnSpPr>
            <a:stCxn id="6" idx="4"/>
            <a:endCxn id="27" idx="7"/>
          </p:cNvCxnSpPr>
          <p:nvPr/>
        </p:nvCxnSpPr>
        <p:spPr>
          <a:xfrm rot="5400000">
            <a:off x="4684386" y="3608340"/>
            <a:ext cx="371755" cy="622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962400" y="4659868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2438400" y="4114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/>
          </a:p>
        </p:txBody>
      </p:sp>
      <p:cxnSp>
        <p:nvCxnSpPr>
          <p:cNvPr id="31" name="Straight Connector 30"/>
          <p:cNvCxnSpPr>
            <a:endCxn id="26" idx="1"/>
          </p:cNvCxnSpPr>
          <p:nvPr/>
        </p:nvCxnSpPr>
        <p:spPr>
          <a:xfrm rot="5400000">
            <a:off x="2704582" y="3556892"/>
            <a:ext cx="447955" cy="801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0" y="289560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3 5 9 1 0 2 6 10 7 4 8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1721" y="2362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101877" y="3200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4"/>
            <a:endCxn id="6" idx="1"/>
          </p:cNvCxnSpPr>
          <p:nvPr/>
        </p:nvCxnSpPr>
        <p:spPr>
          <a:xfrm rot="16200000" flipH="1">
            <a:off x="6529859" y="2606062"/>
            <a:ext cx="447955" cy="874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425696" y="1524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0" name="Straight Connector 9"/>
          <p:cNvCxnSpPr>
            <a:endCxn id="9" idx="4"/>
          </p:cNvCxnSpPr>
          <p:nvPr/>
        </p:nvCxnSpPr>
        <p:spPr>
          <a:xfrm rot="10800000">
            <a:off x="4730497" y="1981200"/>
            <a:ext cx="1281225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00200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13" name="Straight Connector 12"/>
          <p:cNvCxnSpPr>
            <a:stCxn id="16" idx="4"/>
            <a:endCxn id="12" idx="7"/>
          </p:cNvCxnSpPr>
          <p:nvPr/>
        </p:nvCxnSpPr>
        <p:spPr>
          <a:xfrm rot="5400000">
            <a:off x="2222612" y="29459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467852" y="25908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</p:cNvCxnSpPr>
          <p:nvPr/>
        </p:nvCxnSpPr>
        <p:spPr>
          <a:xfrm rot="5400000">
            <a:off x="3491961" y="1352267"/>
            <a:ext cx="609603" cy="1867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95325" y="33528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19" name="Straight Connector 18"/>
          <p:cNvCxnSpPr>
            <a:stCxn id="16" idx="4"/>
            <a:endCxn id="18" idx="1"/>
          </p:cNvCxnSpPr>
          <p:nvPr/>
        </p:nvCxnSpPr>
        <p:spPr>
          <a:xfrm rot="16200000" flipH="1">
            <a:off x="2942747" y="28779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97521" y="237386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5425477" y="3200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cxnSp>
        <p:nvCxnSpPr>
          <p:cNvPr id="22" name="Straight Connector 21"/>
          <p:cNvCxnSpPr>
            <a:stCxn id="5" idx="4"/>
            <a:endCxn id="20" idx="1"/>
          </p:cNvCxnSpPr>
          <p:nvPr/>
        </p:nvCxnSpPr>
        <p:spPr>
          <a:xfrm rot="5400000">
            <a:off x="5691659" y="2642492"/>
            <a:ext cx="447955" cy="801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87677" y="3200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1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8244877" y="3962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cxnSp>
        <p:nvCxnSpPr>
          <p:cNvPr id="24" name="Straight Connector 23"/>
          <p:cNvCxnSpPr>
            <a:stCxn id="6" idx="4"/>
            <a:endCxn id="23" idx="1"/>
          </p:cNvCxnSpPr>
          <p:nvPr/>
        </p:nvCxnSpPr>
        <p:spPr>
          <a:xfrm rot="16200000" flipH="1">
            <a:off x="7684537" y="3379740"/>
            <a:ext cx="371755" cy="927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1077" y="45720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263677" y="3962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cxnSp>
        <p:nvCxnSpPr>
          <p:cNvPr id="28" name="Straight Connector 27"/>
          <p:cNvCxnSpPr>
            <a:stCxn id="6" idx="4"/>
            <a:endCxn id="27" idx="7"/>
          </p:cNvCxnSpPr>
          <p:nvPr/>
        </p:nvCxnSpPr>
        <p:spPr>
          <a:xfrm rot="5400000">
            <a:off x="6909463" y="3532140"/>
            <a:ext cx="371755" cy="622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49252" y="44958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-1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4434876" y="39624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/>
          </a:p>
        </p:txBody>
      </p:sp>
      <p:cxnSp>
        <p:nvCxnSpPr>
          <p:cNvPr id="31" name="Straight Connector 30"/>
          <p:cNvCxnSpPr>
            <a:endCxn id="26" idx="7"/>
          </p:cNvCxnSpPr>
          <p:nvPr/>
        </p:nvCxnSpPr>
        <p:spPr>
          <a:xfrm rot="5400000">
            <a:off x="5080662" y="3532141"/>
            <a:ext cx="371755" cy="622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086600" y="4953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</a:t>
            </a:r>
            <a:endParaRPr lang="en-US" dirty="0"/>
          </a:p>
        </p:txBody>
      </p:sp>
      <p:cxnSp>
        <p:nvCxnSpPr>
          <p:cNvPr id="39" name="Straight Connector 38"/>
          <p:cNvCxnSpPr>
            <a:stCxn id="27" idx="5"/>
            <a:endCxn id="38" idx="1"/>
          </p:cNvCxnSpPr>
          <p:nvPr/>
        </p:nvCxnSpPr>
        <p:spPr>
          <a:xfrm rot="16200000" flipH="1">
            <a:off x="6646283" y="4490364"/>
            <a:ext cx="667310" cy="391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10400" y="548640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134852" y="15240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 = -2</a:t>
            </a:r>
            <a:endParaRPr lang="en-US" dirty="0"/>
          </a:p>
        </p:txBody>
      </p:sp>
      <p:sp>
        <p:nvSpPr>
          <p:cNvPr id="45" name="Right Arrow 44"/>
          <p:cNvSpPr/>
          <p:nvPr/>
        </p:nvSpPr>
        <p:spPr>
          <a:xfrm rot="10800000">
            <a:off x="6125452" y="1524001"/>
            <a:ext cx="656348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/>
          <p:cNvSpPr/>
          <p:nvPr/>
        </p:nvSpPr>
        <p:spPr>
          <a:xfrm rot="10800000">
            <a:off x="7649452" y="2362200"/>
            <a:ext cx="580148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/>
          <p:cNvSpPr/>
          <p:nvPr/>
        </p:nvSpPr>
        <p:spPr>
          <a:xfrm rot="10800000">
            <a:off x="8534400" y="3200400"/>
            <a:ext cx="609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295400" y="2438400"/>
            <a:ext cx="3048000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/>
          <p:cNvSpPr/>
          <p:nvPr/>
        </p:nvSpPr>
        <p:spPr>
          <a:xfrm>
            <a:off x="2590800" y="1905000"/>
            <a:ext cx="228600" cy="4450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2133600" y="1828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3" name="Flowchart: Terminator 52"/>
          <p:cNvSpPr/>
          <p:nvPr/>
        </p:nvSpPr>
        <p:spPr>
          <a:xfrm rot="19592815">
            <a:off x="4145106" y="3480621"/>
            <a:ext cx="2155920" cy="782217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own Arrow 53"/>
          <p:cNvSpPr/>
          <p:nvPr/>
        </p:nvSpPr>
        <p:spPr>
          <a:xfrm>
            <a:off x="5181600" y="2667000"/>
            <a:ext cx="256032" cy="5212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4800600" y="27432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7" name="Flowchart: Terminator 56"/>
          <p:cNvSpPr/>
          <p:nvPr/>
        </p:nvSpPr>
        <p:spPr>
          <a:xfrm rot="3138561">
            <a:off x="5910396" y="4358630"/>
            <a:ext cx="2155920" cy="782217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5791200" y="5181600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60" name="Right Arrow 59"/>
          <p:cNvSpPr/>
          <p:nvPr/>
        </p:nvSpPr>
        <p:spPr>
          <a:xfrm>
            <a:off x="5715000" y="4953000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Terminator 61"/>
          <p:cNvSpPr/>
          <p:nvPr/>
        </p:nvSpPr>
        <p:spPr>
          <a:xfrm rot="3138561">
            <a:off x="8154575" y="3836468"/>
            <a:ext cx="843902" cy="782217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Up Arrow 62"/>
          <p:cNvSpPr/>
          <p:nvPr/>
        </p:nvSpPr>
        <p:spPr>
          <a:xfrm>
            <a:off x="8458200" y="5257800"/>
            <a:ext cx="332232" cy="597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8424446" y="5879068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pic>
        <p:nvPicPr>
          <p:cNvPr id="6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4419600"/>
            <a:ext cx="3997937" cy="223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50" grpId="0" animBg="1"/>
      <p:bldP spid="51" grpId="0" animBg="1"/>
      <p:bldP spid="52" grpId="0"/>
      <p:bldP spid="53" grpId="0" animBg="1"/>
      <p:bldP spid="54" grpId="0" animBg="1"/>
      <p:bldP spid="55" grpId="0"/>
      <p:bldP spid="57" grpId="0" animBg="1"/>
      <p:bldP spid="59" grpId="0"/>
      <p:bldP spid="60" grpId="0" animBg="1"/>
      <p:bldP spid="62" grpId="0" animBg="1"/>
      <p:bldP spid="63" grpId="0" animBg="1"/>
      <p:bldP spid="6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3 5 9 1 0 2 6 10 7 4 8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858000" y="2438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953000" y="1524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cxnSp>
        <p:nvCxnSpPr>
          <p:cNvPr id="10" name="Straight Connector 9"/>
          <p:cNvCxnSpPr>
            <a:stCxn id="5" idx="0"/>
            <a:endCxn id="9" idx="4"/>
          </p:cNvCxnSpPr>
          <p:nvPr/>
        </p:nvCxnSpPr>
        <p:spPr>
          <a:xfrm rot="16200000" flipV="1">
            <a:off x="5981700" y="1257300"/>
            <a:ext cx="457200" cy="1905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124200" y="24384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cxnSp>
        <p:nvCxnSpPr>
          <p:cNvPr id="17" name="Straight Connector 16"/>
          <p:cNvCxnSpPr>
            <a:stCxn id="9" idx="4"/>
            <a:endCxn id="16" idx="0"/>
          </p:cNvCxnSpPr>
          <p:nvPr/>
        </p:nvCxnSpPr>
        <p:spPr>
          <a:xfrm rot="5400000">
            <a:off x="4114800" y="1295400"/>
            <a:ext cx="457200" cy="182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451103" y="42672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cxnSp>
        <p:nvCxnSpPr>
          <p:cNvPr id="73" name="Straight Connector 72"/>
          <p:cNvCxnSpPr>
            <a:stCxn id="74" idx="4"/>
            <a:endCxn id="72" idx="7"/>
          </p:cNvCxnSpPr>
          <p:nvPr/>
        </p:nvCxnSpPr>
        <p:spPr>
          <a:xfrm rot="5400000">
            <a:off x="1073515" y="3784114"/>
            <a:ext cx="447955" cy="65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318755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cxnSp>
        <p:nvCxnSpPr>
          <p:cNvPr id="75" name="Straight Connector 74"/>
          <p:cNvCxnSpPr>
            <a:stCxn id="16" idx="3"/>
          </p:cNvCxnSpPr>
          <p:nvPr/>
        </p:nvCxnSpPr>
        <p:spPr>
          <a:xfrm rot="5400000">
            <a:off x="2163525" y="2379052"/>
            <a:ext cx="600357" cy="1499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2246228" y="41910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cxnSp>
        <p:nvCxnSpPr>
          <p:cNvPr id="77" name="Straight Connector 76"/>
          <p:cNvCxnSpPr>
            <a:stCxn id="74" idx="4"/>
            <a:endCxn id="76" idx="1"/>
          </p:cNvCxnSpPr>
          <p:nvPr/>
        </p:nvCxnSpPr>
        <p:spPr>
          <a:xfrm rot="16200000" flipH="1">
            <a:off x="1793650" y="3716104"/>
            <a:ext cx="371756" cy="71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46303" y="3276600"/>
            <a:ext cx="2977897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1401222" y="28310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343401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cxnSp>
        <p:nvCxnSpPr>
          <p:cNvPr id="83" name="Straight Connector 82"/>
          <p:cNvCxnSpPr>
            <a:stCxn id="16" idx="5"/>
            <a:endCxn id="82" idx="1"/>
          </p:cNvCxnSpPr>
          <p:nvPr/>
        </p:nvCxnSpPr>
        <p:spPr>
          <a:xfrm rot="16200000" flipH="1">
            <a:off x="3704945" y="2768225"/>
            <a:ext cx="667310" cy="788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352800" y="4191001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/>
          </a:p>
        </p:txBody>
      </p:sp>
      <p:cxnSp>
        <p:nvCxnSpPr>
          <p:cNvPr id="85" name="Straight Connector 84"/>
          <p:cNvCxnSpPr>
            <a:endCxn id="84" idx="7"/>
          </p:cNvCxnSpPr>
          <p:nvPr/>
        </p:nvCxnSpPr>
        <p:spPr>
          <a:xfrm rot="5400000">
            <a:off x="3998586" y="3760741"/>
            <a:ext cx="371755" cy="622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343400" y="28956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89" name="Oval 88"/>
          <p:cNvSpPr/>
          <p:nvPr/>
        </p:nvSpPr>
        <p:spPr>
          <a:xfrm>
            <a:off x="7940077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cxnSp>
        <p:nvCxnSpPr>
          <p:cNvPr id="90" name="Straight Connector 89"/>
          <p:cNvCxnSpPr>
            <a:stCxn id="5" idx="4"/>
            <a:endCxn id="89" idx="1"/>
          </p:cNvCxnSpPr>
          <p:nvPr/>
        </p:nvCxnSpPr>
        <p:spPr>
          <a:xfrm rot="16200000" flipH="1">
            <a:off x="7295898" y="2762501"/>
            <a:ext cx="600355" cy="866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5958877" y="34290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cxnSp>
        <p:nvCxnSpPr>
          <p:cNvPr id="93" name="Straight Connector 92"/>
          <p:cNvCxnSpPr>
            <a:stCxn id="5" idx="4"/>
            <a:endCxn id="92" idx="7"/>
          </p:cNvCxnSpPr>
          <p:nvPr/>
        </p:nvCxnSpPr>
        <p:spPr>
          <a:xfrm rot="5400000">
            <a:off x="6520825" y="2853979"/>
            <a:ext cx="600355" cy="683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6781800" y="4419600"/>
            <a:ext cx="609600" cy="457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</a:t>
            </a:r>
            <a:endParaRPr lang="en-US" dirty="0"/>
          </a:p>
        </p:txBody>
      </p:sp>
      <p:cxnSp>
        <p:nvCxnSpPr>
          <p:cNvPr id="96" name="Straight Connector 95"/>
          <p:cNvCxnSpPr>
            <a:stCxn id="92" idx="5"/>
            <a:endCxn id="95" idx="1"/>
          </p:cNvCxnSpPr>
          <p:nvPr/>
        </p:nvCxnSpPr>
        <p:spPr>
          <a:xfrm rot="16200000" flipH="1">
            <a:off x="6341483" y="3956964"/>
            <a:ext cx="667310" cy="391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lowchart: Terminator 97"/>
          <p:cNvSpPr/>
          <p:nvPr/>
        </p:nvSpPr>
        <p:spPr>
          <a:xfrm rot="3138561">
            <a:off x="5605596" y="3825230"/>
            <a:ext cx="2155920" cy="782217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5867400" y="4572000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01" name="Flowchart: Terminator 100"/>
          <p:cNvSpPr/>
          <p:nvPr/>
        </p:nvSpPr>
        <p:spPr>
          <a:xfrm rot="3138561">
            <a:off x="7849775" y="3303068"/>
            <a:ext cx="843902" cy="782217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8458200" y="4191000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107" name="Flowchart: Terminator 106"/>
          <p:cNvSpPr/>
          <p:nvPr/>
        </p:nvSpPr>
        <p:spPr>
          <a:xfrm rot="19592815">
            <a:off x="3085023" y="3653638"/>
            <a:ext cx="2155920" cy="782217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4" grpId="0" animBg="1"/>
      <p:bldP spid="76" grpId="0" animBg="1"/>
      <p:bldP spid="78" grpId="0" animBg="1"/>
      <p:bldP spid="80" grpId="0"/>
      <p:bldP spid="82" grpId="0" animBg="1"/>
      <p:bldP spid="84" grpId="0" animBg="1"/>
      <p:bldP spid="87" grpId="0"/>
      <p:bldP spid="89" grpId="0" animBg="1"/>
      <p:bldP spid="92" grpId="0" animBg="1"/>
      <p:bldP spid="95" grpId="0" animBg="1"/>
      <p:bldP spid="98" grpId="0" animBg="1"/>
      <p:bldP spid="99" grpId="0"/>
      <p:bldP spid="101" grpId="0" animBg="1"/>
      <p:bldP spid="103" grpId="0"/>
      <p:bldP spid="10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AVL is very easy in implementation</a:t>
            </a:r>
          </a:p>
          <a:p>
            <a:r>
              <a:rPr lang="en-US" dirty="0" smtClean="0"/>
              <a:t>Same insertion as in BST</a:t>
            </a:r>
          </a:p>
          <a:p>
            <a:r>
              <a:rPr lang="en-US" dirty="0" smtClean="0"/>
              <a:t>Insertion recursion backtrack = go up in flow</a:t>
            </a:r>
          </a:p>
          <a:p>
            <a:r>
              <a:rPr lang="en-US" dirty="0" smtClean="0"/>
              <a:t>We could update height after insertion</a:t>
            </a:r>
          </a:p>
          <a:p>
            <a:r>
              <a:rPr lang="en-US" dirty="0" smtClean="0"/>
              <a:t>Then calc the BF, if |BF| &gt; 1 =&gt; balance</a:t>
            </a:r>
          </a:p>
          <a:p>
            <a:r>
              <a:rPr lang="en-US" dirty="0" smtClean="0"/>
              <a:t>Just one last notice on rotation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Rotation Implementation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4343400" cy="2547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410075"/>
            <a:ext cx="42672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495800" y="2895600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++ at root 5</a:t>
            </a:r>
          </a:p>
          <a:p>
            <a:r>
              <a:rPr lang="en-US" dirty="0" smtClean="0"/>
              <a:t>Rotate root = </a:t>
            </a:r>
            <a:r>
              <a:rPr lang="en-US" b="1" u="sng" dirty="0" smtClean="0"/>
              <a:t>5</a:t>
            </a:r>
            <a:endParaRPr lang="en-US" b="1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4572597" y="5181600"/>
            <a:ext cx="2443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-+ at root 3</a:t>
            </a:r>
          </a:p>
          <a:p>
            <a:r>
              <a:rPr lang="en-US" dirty="0" smtClean="0"/>
              <a:t>Rotate Right Branch = </a:t>
            </a:r>
            <a:r>
              <a:rPr lang="en-US" b="1" u="sng" dirty="0" smtClean="0"/>
              <a:t>5</a:t>
            </a:r>
            <a:endParaRPr lang="en-US" b="1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4038600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Same Rotation behavior</a:t>
            </a:r>
          </a:p>
          <a:p>
            <a:r>
              <a:rPr lang="en-US" dirty="0" smtClean="0"/>
              <a:t>One code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Rotation General Rule</a:t>
            </a:r>
            <a:endParaRPr lang="en-US" dirty="0"/>
          </a:p>
        </p:txBody>
      </p:sp>
      <p:pic>
        <p:nvPicPr>
          <p:cNvPr id="2050" name="Picture 2" descr="Tree rotatio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438400"/>
            <a:ext cx="6966131" cy="2743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2824</TotalTime>
  <Words>1039</Words>
  <Application>Microsoft Office PowerPoint</Application>
  <PresentationFormat>On-screen Show (4:3)</PresentationFormat>
  <Paragraphs>304</Paragraphs>
  <Slides>29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Module</vt:lpstr>
      <vt:lpstr>AVL Tree</vt:lpstr>
      <vt:lpstr>AVL Balance Factor</vt:lpstr>
      <vt:lpstr>AVL Balance Factor</vt:lpstr>
      <vt:lpstr>LR =&gt; LL =&gt; B</vt:lpstr>
      <vt:lpstr>RL =&gt; RR =&gt; B</vt:lpstr>
      <vt:lpstr>The general flow</vt:lpstr>
      <vt:lpstr>Delete</vt:lpstr>
      <vt:lpstr>Let’s simulate a big example</vt:lpstr>
      <vt:lpstr>3 [5 9 1 0 2 6 10 7 4 8]</vt:lpstr>
      <vt:lpstr>3 5 [9 1 0 2 6 10 7 4 8]</vt:lpstr>
      <vt:lpstr>3 5 9 [1 0 2 6 10 7 4 8]</vt:lpstr>
      <vt:lpstr>3 5 9 [1 0 2 6 10 7 4 8]</vt:lpstr>
      <vt:lpstr>3 5 9 1 [0 2 6 10 7 4 8]</vt:lpstr>
      <vt:lpstr>3 5 9 1 0 [2 6 10 7 4 8]</vt:lpstr>
      <vt:lpstr>3 5 9 1 0 [2 6 10 7 4 8]</vt:lpstr>
      <vt:lpstr>3 5 9 1 0 2 [6 10 7 4 8]</vt:lpstr>
      <vt:lpstr>3 5 9 1 0 2 [6 10 7 4 8]</vt:lpstr>
      <vt:lpstr>3 5 9 1 0 2 [6 10 7 4 8]</vt:lpstr>
      <vt:lpstr>3 5 9 1 0 2 6 [10 7 4 8]</vt:lpstr>
      <vt:lpstr>3 5 9 1 0 2 6 [10 7 4 8]</vt:lpstr>
      <vt:lpstr>3 5 9 1 0 2 6 [10 7 4 8]</vt:lpstr>
      <vt:lpstr>3 5 9 1 0 2 6 10 [7 4 8]</vt:lpstr>
      <vt:lpstr>3 5 9 1 0 2 6 10 7 [4 8]</vt:lpstr>
      <vt:lpstr>3 5 9 1 0 2 6 10 7 4 [8]</vt:lpstr>
      <vt:lpstr>3 5 9 1 0 2 6 10 7 4 8</vt:lpstr>
      <vt:lpstr>3 5 9 1 0 2 6 10 7 4 8</vt:lpstr>
      <vt:lpstr>Implementation</vt:lpstr>
      <vt:lpstr>Rotation Implementation</vt:lpstr>
      <vt:lpstr>Rotation General Rule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Black Tree</dc:title>
  <dc:creator>Mostafa Saad</dc:creator>
  <cp:lastModifiedBy>Mostafa Saad</cp:lastModifiedBy>
  <cp:revision>119</cp:revision>
  <dcterms:created xsi:type="dcterms:W3CDTF">2014-01-03T19:20:18Z</dcterms:created>
  <dcterms:modified xsi:type="dcterms:W3CDTF">2014-01-15T07:27:37Z</dcterms:modified>
</cp:coreProperties>
</file>