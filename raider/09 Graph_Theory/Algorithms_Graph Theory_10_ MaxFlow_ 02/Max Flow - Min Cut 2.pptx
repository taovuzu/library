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3"/>
  </p:notesMasterIdLst>
  <p:sldIdLst>
    <p:sldId id="256" r:id="rId2"/>
    <p:sldId id="321" r:id="rId3"/>
    <p:sldId id="334" r:id="rId4"/>
    <p:sldId id="335" r:id="rId5"/>
    <p:sldId id="336" r:id="rId6"/>
    <p:sldId id="287" r:id="rId7"/>
    <p:sldId id="303" r:id="rId8"/>
    <p:sldId id="288" r:id="rId9"/>
    <p:sldId id="304" r:id="rId10"/>
    <p:sldId id="305" r:id="rId11"/>
    <p:sldId id="307" r:id="rId12"/>
    <p:sldId id="320" r:id="rId13"/>
    <p:sldId id="337" r:id="rId14"/>
    <p:sldId id="308" r:id="rId15"/>
    <p:sldId id="310" r:id="rId16"/>
    <p:sldId id="311" r:id="rId17"/>
    <p:sldId id="338" r:id="rId18"/>
    <p:sldId id="340" r:id="rId19"/>
    <p:sldId id="342" r:id="rId20"/>
    <p:sldId id="341" r:id="rId21"/>
    <p:sldId id="312" r:id="rId22"/>
    <p:sldId id="313" r:id="rId23"/>
    <p:sldId id="314" r:id="rId24"/>
    <p:sldId id="315" r:id="rId25"/>
    <p:sldId id="350" r:id="rId26"/>
    <p:sldId id="318" r:id="rId27"/>
    <p:sldId id="345" r:id="rId28"/>
    <p:sldId id="346" r:id="rId29"/>
    <p:sldId id="347" r:id="rId30"/>
    <p:sldId id="355" r:id="rId31"/>
    <p:sldId id="348" r:id="rId32"/>
    <p:sldId id="349" r:id="rId33"/>
    <p:sldId id="343" r:id="rId34"/>
    <p:sldId id="352" r:id="rId35"/>
    <p:sldId id="353" r:id="rId36"/>
    <p:sldId id="354" r:id="rId37"/>
    <p:sldId id="344" r:id="rId38"/>
    <p:sldId id="319" r:id="rId39"/>
    <p:sldId id="322" r:id="rId40"/>
    <p:sldId id="323" r:id="rId41"/>
    <p:sldId id="324" r:id="rId42"/>
    <p:sldId id="325" r:id="rId43"/>
    <p:sldId id="326" r:id="rId44"/>
    <p:sldId id="327" r:id="rId45"/>
    <p:sldId id="328" r:id="rId46"/>
    <p:sldId id="329" r:id="rId47"/>
    <p:sldId id="330" r:id="rId48"/>
    <p:sldId id="331" r:id="rId49"/>
    <p:sldId id="332" r:id="rId50"/>
    <p:sldId id="333" r:id="rId51"/>
    <p:sldId id="356" r:id="rId5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0493" autoAdjust="0"/>
  </p:normalViewPr>
  <p:slideViewPr>
    <p:cSldViewPr>
      <p:cViewPr varScale="1">
        <p:scale>
          <a:sx n="67" d="100"/>
          <a:sy n="67" d="100"/>
        </p:scale>
        <p:origin x="-147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33B09A-A971-4539-AD01-48BB45EB13AB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2F219-88E9-4AA1-9594-FF5A5A041255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Source: http://www.biochemsoctrans.org/bst/031/1491/bst0311491f02.gif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http://flylib.com/books/2/264/1/html/2/images/fig22-23.jpg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http://flylib.com/books/2/264/1/html/2/images/fig22-23.jpg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http://interactivepython.org/runestone/static/pythonds/_images/knightmoves.png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http://flylib.com/books/2/264/1/html/2/images/fig22-23.jpg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B52F219-88E9-4AA1-9594-FF5A5A041255}" type="slidenum">
              <a:rPr lang="en-US" smtClean="0"/>
              <a:pPr/>
              <a:t>37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FDB5D082-5B6E-41DC-B5D5-E490ED116D72}" type="datetimeFigureOut">
              <a:rPr lang="en-US" smtClean="0"/>
              <a:pPr/>
              <a:t>3/26/2014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C33E05B-3052-4969-9095-7426E9A45B80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/>
              <a:t>Max Flow - Min Cut</a:t>
            </a:r>
            <a:br>
              <a:rPr lang="en-US" dirty="0" smtClean="0"/>
            </a:br>
            <a:r>
              <a:rPr lang="en-US" dirty="0" smtClean="0"/>
              <a:t>	 Applications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US" dirty="0" smtClean="0"/>
          </a:p>
          <a:p>
            <a:pPr algn="l"/>
            <a:endParaRPr lang="en-US" dirty="0" smtClean="0"/>
          </a:p>
          <a:p>
            <a:pPr algn="l"/>
            <a:r>
              <a:rPr lang="en-US" dirty="0" smtClean="0"/>
              <a:t>By Mostafa Saad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edge-disjoint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the maximum number of edge-disjoint paths from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to </a:t>
            </a:r>
            <a:r>
              <a:rPr lang="en-US" i="1" dirty="0" smtClean="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is, we need set of paths, such that no 2 paths intersect in edge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 that, we don’t care with graph weights.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edge-disjoint path</a:t>
            </a:r>
          </a:p>
        </p:txBody>
      </p:sp>
      <p:sp>
        <p:nvSpPr>
          <p:cNvPr id="15" name="Oval 14"/>
          <p:cNvSpPr/>
          <p:nvPr/>
        </p:nvSpPr>
        <p:spPr>
          <a:xfrm>
            <a:off x="27728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5" idx="6"/>
            <a:endCxn id="18" idx="1"/>
          </p:cNvCxnSpPr>
          <p:nvPr/>
        </p:nvCxnSpPr>
        <p:spPr>
          <a:xfrm>
            <a:off x="3230022" y="3009900"/>
            <a:ext cx="10575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43000" y="5410200"/>
            <a:ext cx="21539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paths: e.g.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1-2-6-3-4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1-5-6-4</a:t>
            </a:r>
          </a:p>
        </p:txBody>
      </p:sp>
      <p:sp>
        <p:nvSpPr>
          <p:cNvPr id="22" name="Oval 21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stCxn id="22" idx="6"/>
            <a:endCxn id="15" idx="2"/>
          </p:cNvCxnSpPr>
          <p:nvPr/>
        </p:nvCxnSpPr>
        <p:spPr>
          <a:xfrm flipV="1">
            <a:off x="1981200" y="3009900"/>
            <a:ext cx="791622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6"/>
            <a:endCxn id="17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16" idx="6"/>
            <a:endCxn id="31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  <a:endCxn id="31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8" idx="0"/>
            <a:endCxn id="16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edge-disjoint path</a:t>
            </a:r>
          </a:p>
        </p:txBody>
      </p:sp>
      <p:sp>
        <p:nvSpPr>
          <p:cNvPr id="15" name="Oval 1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4"/>
            <a:endCxn id="17" idx="0"/>
          </p:cNvCxnSpPr>
          <p:nvPr/>
        </p:nvCxnSpPr>
        <p:spPr>
          <a:xfrm rot="16200000" flipH="1">
            <a:off x="2796111" y="3528489"/>
            <a:ext cx="533400" cy="296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43000" y="5410200"/>
            <a:ext cx="52509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many solutions, each one has just 1 path: E.g.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1-2-6-4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1-5-6-3-4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stCxn id="22" idx="6"/>
            <a:endCxn id="15" idx="2"/>
          </p:cNvCxnSpPr>
          <p:nvPr/>
        </p:nvCxnSpPr>
        <p:spPr>
          <a:xfrm flipV="1">
            <a:off x="1981200" y="3009900"/>
            <a:ext cx="838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6"/>
            <a:endCxn id="17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16" idx="6"/>
            <a:endCxn id="31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  <a:endCxn id="31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8" idx="0"/>
            <a:endCxn id="16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edge-disjoint path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" y="5410200"/>
            <a:ext cx="61324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Idea is simple. Set all weights = 1. Then if a flow passed in edge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on else will path in this edge.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(1, 4) = 1.</a:t>
            </a:r>
          </a:p>
        </p:txBody>
      </p:sp>
      <p:sp>
        <p:nvSpPr>
          <p:cNvPr id="19" name="Oval 18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8" name="Straight Arrow Connector 27"/>
          <p:cNvCxnSpPr>
            <a:stCxn id="26" idx="6"/>
            <a:endCxn id="27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4"/>
            <a:endCxn id="26" idx="0"/>
          </p:cNvCxnSpPr>
          <p:nvPr/>
        </p:nvCxnSpPr>
        <p:spPr>
          <a:xfrm rot="16200000" flipH="1">
            <a:off x="2796111" y="3528489"/>
            <a:ext cx="533400" cy="2962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Oval 31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6" name="Straight Arrow Connector 35"/>
          <p:cNvCxnSpPr>
            <a:stCxn id="32" idx="6"/>
            <a:endCxn id="19" idx="2"/>
          </p:cNvCxnSpPr>
          <p:nvPr/>
        </p:nvCxnSpPr>
        <p:spPr>
          <a:xfrm flipV="1">
            <a:off x="1981200" y="3009900"/>
            <a:ext cx="838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6"/>
            <a:endCxn id="26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stCxn id="24" idx="6"/>
            <a:endCxn id="38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7" idx="6"/>
            <a:endCxn id="38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7" idx="0"/>
            <a:endCxn id="24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2133600" y="2819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133600" y="3669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509918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033918" y="3821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029200" y="2819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4114800" y="3429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Capacities on vertices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far we were working on graphs has the capacities on the edges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if some nodes has capacities on it.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In past, we have edge(2, 3) = 7 and edge(3, 5) =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we want to pass flow, we could pass min(7, 4) =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if node 3 has a capacity of 3?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answer  is min(7, 4, 3) = 3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to handle this through the algorithm!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Capacities on vertices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Think in the graph as following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2-3 = 7, 3-3 = 3, 3-4 =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Convert node to edge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known as Vertex Splitting Trick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simply create a duplicate node, connect it with original, and put the capacity on it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Now, no nodes has capacities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similar trick called Edge Splitting (but not our scope)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Vertex Splitting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800" y="4114800"/>
            <a:ext cx="45576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 say node 3 will have capacity limit = 2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Create a new node with a new number (say 5)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Let edges going from 3 goes from 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Vertex Splitting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800" y="4114800"/>
            <a:ext cx="5510932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Handle Carefully In/Out edges from 3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every node will have capacity. An easy encoding is that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In(v) = v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Out(v)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v+n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when original input is edge X-Y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actually add edge: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Out(X) to In(Y)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68580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endCxn id="15" idx="2"/>
          </p:cNvCxnSpPr>
          <p:nvPr/>
        </p:nvCxnSpPr>
        <p:spPr>
          <a:xfrm>
            <a:off x="59436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17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Vertex Splitting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800" y="3718679"/>
            <a:ext cx="542520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 capacity(1) =1, C(2) = 2, C(3) = 3, C(4) = 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Let In(V) = V and Out(V) = V+N =&gt; Graph of 2N nodes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In(1) = 1, Out(1) =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In(2)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2,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Out(2)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6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In(3)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3,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Out(3)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7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In(4)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4,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Out(4)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8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Vertex Splitting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66800" y="3441680"/>
            <a:ext cx="336181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New Graph Edges: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Original Edges =&gt; Out(X) – In(Y)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 =&gt; 5 – 2 =&gt; Flow = 9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2-3 =&gt; 6 - 3 =&gt; Flow =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3-4 =&gt; 7 - 4 =&gt; Flow = 7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New Edges per vertex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=&gt; 1-5 =&gt; Flow = 1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=&gt; 2-6 =&gt; Flow = 2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 =&gt; 3-7 =&gt; Flow = 3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 =&gt; 4-8  =&gt; Flow = 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953000" y="4495800"/>
            <a:ext cx="388317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Originally we want max flow from 1-4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we need max flow from: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In(1) to Out(4)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1 - 8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independent path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the maximum number of independent paths from s to t with no </a:t>
            </a:r>
            <a:r>
              <a:rPr lang="en-US" u="sng" dirty="0" smtClean="0">
                <a:latin typeface="Times New Roman" pitchFamily="18" charset="0"/>
                <a:cs typeface="Times New Roman" pitchFamily="18" charset="0"/>
              </a:rPr>
              <a:t>vertex shared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(except start and end)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is, we can’t have e.g. paths like: 1-2-3-4 and 1-2-5-4 as they share vertex 2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Solution is same as Maximum edge-disjoint path, but we will put too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capacity 1 over vertices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and do vertex splitting trick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independent path</a:t>
            </a:r>
          </a:p>
        </p:txBody>
      </p:sp>
      <p:sp>
        <p:nvSpPr>
          <p:cNvPr id="15" name="Oval 14"/>
          <p:cNvSpPr/>
          <p:nvPr/>
        </p:nvSpPr>
        <p:spPr>
          <a:xfrm>
            <a:off x="27728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5" idx="6"/>
            <a:endCxn id="18" idx="1"/>
          </p:cNvCxnSpPr>
          <p:nvPr/>
        </p:nvCxnSpPr>
        <p:spPr>
          <a:xfrm>
            <a:off x="3230022" y="3009900"/>
            <a:ext cx="10575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28600" y="4876800"/>
            <a:ext cx="43845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only 1 path: e.g.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1-2-6-3-4 OR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1-5-6-4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Note, 6 is common, so only 1 path is possible</a:t>
            </a:r>
          </a:p>
        </p:txBody>
      </p:sp>
      <p:sp>
        <p:nvSpPr>
          <p:cNvPr id="22" name="Oval 21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stCxn id="22" idx="6"/>
            <a:endCxn id="15" idx="2"/>
          </p:cNvCxnSpPr>
          <p:nvPr/>
        </p:nvCxnSpPr>
        <p:spPr>
          <a:xfrm flipV="1">
            <a:off x="1981200" y="3009900"/>
            <a:ext cx="791622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22" idx="6"/>
            <a:endCxn id="17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16" idx="6"/>
            <a:endCxn id="31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  <a:endCxn id="31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>
            <a:stCxn id="18" idx="0"/>
            <a:endCxn id="16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Multi-source Multi-sink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far, the problem was given graph, and 1 source and 1 sink node.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if we have many sources? Many destinations?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idea is simple: We define a super source and super sink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Multi-source Multi-sink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8481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8481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8481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5105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Given Sources: 1,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Sinks 4, 8, 9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max flow from sources to sinks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buFontTx/>
              <a:buChar char="-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super source – connect to all sources with OO</a:t>
            </a:r>
          </a:p>
          <a:p>
            <a:pPr>
              <a:buFontTx/>
              <a:buChar char="-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Add super sink – connect all sinks to it with 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30099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30464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5"/>
            <a:endCxn id="6" idx="2"/>
          </p:cNvCxnSpPr>
          <p:nvPr/>
        </p:nvCxnSpPr>
        <p:spPr>
          <a:xfrm rot="16200000" flipH="1">
            <a:off x="3337415" y="3070714"/>
            <a:ext cx="649615" cy="905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09800" y="2590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505200" y="3200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stCxn id="30" idx="6"/>
            <a:endCxn id="20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286000" y="3200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Straight Arrow Connector 34"/>
          <p:cNvCxnSpPr>
            <a:stCxn id="21" idx="6"/>
            <a:endCxn id="34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029200" y="2667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5486400" y="1828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stCxn id="21" idx="7"/>
            <a:endCxn id="38" idx="2"/>
          </p:cNvCxnSpPr>
          <p:nvPr/>
        </p:nvCxnSpPr>
        <p:spPr>
          <a:xfrm rot="5400000" flipH="1" flipV="1">
            <a:off x="4632815" y="1967731"/>
            <a:ext cx="725815" cy="98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724400" y="2145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>
            <a:stCxn id="21" idx="5"/>
          </p:cNvCxnSpPr>
          <p:nvPr/>
        </p:nvCxnSpPr>
        <p:spPr>
          <a:xfrm rot="16200000" flipH="1">
            <a:off x="4669957" y="3033572"/>
            <a:ext cx="651531" cy="98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9530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Multi-source Multi-sink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4384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35052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8006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172200" y="3581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895600" y="38481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962400" y="38481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5257800" y="38481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048000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80302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0" y="3897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6629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 is a so big value &gt; the possible the flow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find max flow from 10 to 11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Sometimes nodes has capacities too..merge the trick in the new graph</a:t>
            </a:r>
          </a:p>
        </p:txBody>
      </p:sp>
      <p:sp>
        <p:nvSpPr>
          <p:cNvPr id="20" name="Oval 19"/>
          <p:cNvSpPr/>
          <p:nvPr/>
        </p:nvSpPr>
        <p:spPr>
          <a:xfrm>
            <a:off x="35052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800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895600" y="30099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962400" y="30464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0" idx="5"/>
            <a:endCxn id="6" idx="2"/>
          </p:cNvCxnSpPr>
          <p:nvPr/>
        </p:nvCxnSpPr>
        <p:spPr>
          <a:xfrm rot="16200000" flipH="1">
            <a:off x="4023215" y="3070714"/>
            <a:ext cx="649615" cy="905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895600" y="2590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803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191000" y="3200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2438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stCxn id="30" idx="6"/>
            <a:endCxn id="20" idx="2"/>
          </p:cNvCxnSpPr>
          <p:nvPr/>
        </p:nvCxnSpPr>
        <p:spPr>
          <a:xfrm>
            <a:off x="28956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2971800" y="3200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61722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8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5" name="Straight Arrow Connector 34"/>
          <p:cNvCxnSpPr>
            <a:stCxn id="21" idx="6"/>
            <a:endCxn id="34" idx="2"/>
          </p:cNvCxnSpPr>
          <p:nvPr/>
        </p:nvCxnSpPr>
        <p:spPr>
          <a:xfrm>
            <a:off x="52578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715000" y="2667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6172200" y="1828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9" name="Straight Arrow Connector 38"/>
          <p:cNvCxnSpPr>
            <a:stCxn id="21" idx="7"/>
            <a:endCxn id="38" idx="2"/>
          </p:cNvCxnSpPr>
          <p:nvPr/>
        </p:nvCxnSpPr>
        <p:spPr>
          <a:xfrm rot="5400000" flipH="1" flipV="1">
            <a:off x="5318615" y="1967731"/>
            <a:ext cx="725815" cy="98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410200" y="21452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2" name="Straight Arrow Connector 41"/>
          <p:cNvCxnSpPr>
            <a:stCxn id="21" idx="5"/>
          </p:cNvCxnSpPr>
          <p:nvPr/>
        </p:nvCxnSpPr>
        <p:spPr>
          <a:xfrm rot="16200000" flipH="1">
            <a:off x="5355757" y="3033572"/>
            <a:ext cx="651531" cy="981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638800" y="3276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685800" y="31242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>
            <a:stCxn id="37" idx="6"/>
            <a:endCxn id="30" idx="2"/>
          </p:cNvCxnSpPr>
          <p:nvPr/>
        </p:nvCxnSpPr>
        <p:spPr>
          <a:xfrm flipV="1">
            <a:off x="1447800" y="3009900"/>
            <a:ext cx="990600" cy="381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600200" y="27432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Arrow Connector 44"/>
          <p:cNvCxnSpPr>
            <a:stCxn id="37" idx="6"/>
            <a:endCxn id="4" idx="2"/>
          </p:cNvCxnSpPr>
          <p:nvPr/>
        </p:nvCxnSpPr>
        <p:spPr>
          <a:xfrm>
            <a:off x="1447800" y="3390900"/>
            <a:ext cx="9906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1615509" y="37338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7772400" y="27432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1" name="Straight Arrow Connector 60"/>
          <p:cNvCxnSpPr>
            <a:stCxn id="34" idx="6"/>
            <a:endCxn id="60" idx="2"/>
          </p:cNvCxnSpPr>
          <p:nvPr/>
        </p:nvCxnSpPr>
        <p:spPr>
          <a:xfrm>
            <a:off x="6629400" y="30099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/>
          <p:cNvCxnSpPr>
            <a:stCxn id="38" idx="5"/>
            <a:endCxn id="60" idx="2"/>
          </p:cNvCxnSpPr>
          <p:nvPr/>
        </p:nvCxnSpPr>
        <p:spPr>
          <a:xfrm rot="16200000" flipH="1">
            <a:off x="6804515" y="2042014"/>
            <a:ext cx="725815" cy="12099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7" idx="6"/>
            <a:endCxn id="60" idx="2"/>
          </p:cNvCxnSpPr>
          <p:nvPr/>
        </p:nvCxnSpPr>
        <p:spPr>
          <a:xfrm flipV="1">
            <a:off x="6629400" y="3009900"/>
            <a:ext cx="11430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6934200" y="22860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6705600" y="26670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7162800" y="3352800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OO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Bipartite graph</a:t>
            </a:r>
          </a:p>
        </p:txBody>
      </p:sp>
      <p:pic>
        <p:nvPicPr>
          <p:cNvPr id="3074" name="Picture 2" descr="http://www.biochemsoctrans.org/bst/031/1491/bst0311491f0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" y="2438400"/>
            <a:ext cx="3581400" cy="27051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5715000" y="2514600"/>
            <a:ext cx="351891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Graph could be divided to 2 groups: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 links inside a group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links between the groups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Here group 1 = {A, B, C}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Group 2 = {X, Y, Z, W}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links only from G1 to G2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Tree is Bipartite graph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001000" cy="655320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Any tree is bipartite.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057400" y="2743200"/>
            <a:ext cx="4267200" cy="283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DAG is NOT Bipartite graph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001000" cy="65532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Any DAG can be expressed as bipartite.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DAG = Directed a cyclic graph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1600200" y="3048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600200" y="4724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>
            <a:stCxn id="7" idx="5"/>
            <a:endCxn id="8" idx="2"/>
          </p:cNvCxnSpPr>
          <p:nvPr/>
        </p:nvCxnSpPr>
        <p:spPr>
          <a:xfrm rot="16200000" flipH="1">
            <a:off x="975215" y="4366114"/>
            <a:ext cx="725815" cy="52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4"/>
            <a:endCxn id="8" idx="0"/>
          </p:cNvCxnSpPr>
          <p:nvPr/>
        </p:nvCxnSpPr>
        <p:spPr>
          <a:xfrm rot="5400000">
            <a:off x="1257300" y="41529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8" idx="6"/>
          </p:cNvCxnSpPr>
          <p:nvPr/>
        </p:nvCxnSpPr>
        <p:spPr>
          <a:xfrm rot="5400000">
            <a:off x="1994671" y="4328015"/>
            <a:ext cx="725815" cy="600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4"/>
            <a:endCxn id="7" idx="6"/>
          </p:cNvCxnSpPr>
          <p:nvPr/>
        </p:nvCxnSpPr>
        <p:spPr>
          <a:xfrm rot="5400000">
            <a:off x="1238250" y="3486150"/>
            <a:ext cx="4953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4"/>
            <a:endCxn id="6" idx="2"/>
          </p:cNvCxnSpPr>
          <p:nvPr/>
        </p:nvCxnSpPr>
        <p:spPr>
          <a:xfrm rot="16200000" flipH="1">
            <a:off x="1962150" y="3448050"/>
            <a:ext cx="4953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657600" y="2971800"/>
            <a:ext cx="4137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Direct check, this will never be bipartite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Interesting Bipartite graph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001000" cy="65532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Knight graph is bipartite. White in one group and black in other group. Color never attack same color.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8370" name="Picture 2" descr="http://interactivepython.org/runestone/static/pythonds/_images/knightmoves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9600" y="2590800"/>
            <a:ext cx="6589059" cy="37338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bipartite matching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Say we are a company that facilitates people marriage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Women provide us with their details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Men come and each one select some women that he could select one of them to marry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Now, we want to assign women to men such that, we have maximum marriages occurs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man marries one woman. Same for woman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bipartite matching</a:t>
            </a:r>
          </a:p>
        </p:txBody>
      </p:sp>
      <p:sp>
        <p:nvSpPr>
          <p:cNvPr id="15" name="Oval 14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3200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1828800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3200400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5" idx="6"/>
            <a:endCxn id="16" idx="2"/>
          </p:cNvCxnSpPr>
          <p:nvPr/>
        </p:nvCxnSpPr>
        <p:spPr>
          <a:xfrm>
            <a:off x="2209800" y="30099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2286000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6"/>
            <a:endCxn id="18" idx="2"/>
          </p:cNvCxnSpPr>
          <p:nvPr/>
        </p:nvCxnSpPr>
        <p:spPr>
          <a:xfrm>
            <a:off x="2209800" y="3009900"/>
            <a:ext cx="990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48200" y="2819400"/>
            <a:ext cx="3762633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 1 could marry woman 2 and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Man 3 could marry only woman 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we selected 1-4, then 3 won’t marry.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Answer is 1 marriage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if 1 with 2, then 3 can marry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 Answer  is 2 marriages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Think in it max flow problem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With multi-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multi-sink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Add 2 nodes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All capacities =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1000" y="4953000"/>
            <a:ext cx="259077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called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Bipartite graph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= Divide vertices to 2 sets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bipartite matching</a:t>
            </a:r>
          </a:p>
        </p:txBody>
      </p:sp>
      <p:sp>
        <p:nvSpPr>
          <p:cNvPr id="15" name="Oval 14"/>
          <p:cNvSpPr/>
          <p:nvPr/>
        </p:nvSpPr>
        <p:spPr>
          <a:xfrm>
            <a:off x="27728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5" idx="6"/>
            <a:endCxn id="16" idx="2"/>
          </p:cNvCxnSpPr>
          <p:nvPr/>
        </p:nvCxnSpPr>
        <p:spPr>
          <a:xfrm>
            <a:off x="3230022" y="30099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6"/>
            <a:endCxn id="18" idx="2"/>
          </p:cNvCxnSpPr>
          <p:nvPr/>
        </p:nvCxnSpPr>
        <p:spPr>
          <a:xfrm>
            <a:off x="3230022" y="3009900"/>
            <a:ext cx="990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1143000" y="5410200"/>
            <a:ext cx="2789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get max flow (5-6) = 2</a:t>
            </a:r>
          </a:p>
        </p:txBody>
      </p:sp>
      <p:sp>
        <p:nvSpPr>
          <p:cNvPr id="22" name="Oval 21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stCxn id="22" idx="6"/>
            <a:endCxn id="15" idx="2"/>
          </p:cNvCxnSpPr>
          <p:nvPr/>
        </p:nvCxnSpPr>
        <p:spPr>
          <a:xfrm flipV="1">
            <a:off x="1981200" y="3009900"/>
            <a:ext cx="791622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574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>
            <a:stCxn id="22" idx="6"/>
            <a:endCxn id="17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85918" y="3733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16" idx="6"/>
            <a:endCxn id="31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  <a:endCxn id="31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53000" y="2819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53000" y="4038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57600" y="2590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57600" y="3212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81400" y="41264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Maximum bipartite matching</a:t>
            </a:r>
          </a:p>
        </p:txBody>
      </p:sp>
      <p:sp>
        <p:nvSpPr>
          <p:cNvPr id="15" name="Oval 14"/>
          <p:cNvSpPr/>
          <p:nvPr/>
        </p:nvSpPr>
        <p:spPr>
          <a:xfrm>
            <a:off x="2772822" y="3352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220622" y="3352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2849022" y="4419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4220622" y="4419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9" name="Straight Arrow Connector 18"/>
          <p:cNvCxnSpPr>
            <a:stCxn id="15" idx="6"/>
            <a:endCxn id="16" idx="2"/>
          </p:cNvCxnSpPr>
          <p:nvPr/>
        </p:nvCxnSpPr>
        <p:spPr>
          <a:xfrm>
            <a:off x="3230022" y="3619500"/>
            <a:ext cx="990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7" idx="6"/>
            <a:endCxn id="18" idx="2"/>
          </p:cNvCxnSpPr>
          <p:nvPr/>
        </p:nvCxnSpPr>
        <p:spPr>
          <a:xfrm>
            <a:off x="3306222" y="4686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5" idx="6"/>
            <a:endCxn id="18" idx="2"/>
          </p:cNvCxnSpPr>
          <p:nvPr/>
        </p:nvCxnSpPr>
        <p:spPr>
          <a:xfrm>
            <a:off x="3230022" y="3619500"/>
            <a:ext cx="990600" cy="1066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90600" y="2667000"/>
            <a:ext cx="6801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if first man could marry up to 3 and 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man could marry up to 2?</a:t>
            </a:r>
          </a:p>
        </p:txBody>
      </p:sp>
      <p:sp>
        <p:nvSpPr>
          <p:cNvPr id="22" name="Oval 21"/>
          <p:cNvSpPr/>
          <p:nvPr/>
        </p:nvSpPr>
        <p:spPr>
          <a:xfrm>
            <a:off x="1219200" y="38100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3" name="Straight Arrow Connector 22"/>
          <p:cNvCxnSpPr>
            <a:stCxn id="22" idx="6"/>
            <a:endCxn id="15" idx="2"/>
          </p:cNvCxnSpPr>
          <p:nvPr/>
        </p:nvCxnSpPr>
        <p:spPr>
          <a:xfrm flipV="1">
            <a:off x="1981200" y="3619500"/>
            <a:ext cx="791622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057400" y="3440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5" name="Straight Arrow Connector 24"/>
          <p:cNvCxnSpPr>
            <a:stCxn id="22" idx="6"/>
            <a:endCxn id="17" idx="2"/>
          </p:cNvCxnSpPr>
          <p:nvPr/>
        </p:nvCxnSpPr>
        <p:spPr>
          <a:xfrm>
            <a:off x="1981200" y="40767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985918" y="4343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5410200" y="3886200"/>
            <a:ext cx="762000" cy="533400"/>
          </a:xfrm>
          <a:prstGeom prst="ellipse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Straight Arrow Connector 33"/>
          <p:cNvCxnSpPr>
            <a:stCxn id="16" idx="6"/>
            <a:endCxn id="31" idx="2"/>
          </p:cNvCxnSpPr>
          <p:nvPr/>
        </p:nvCxnSpPr>
        <p:spPr>
          <a:xfrm>
            <a:off x="4677822" y="36195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stCxn id="18" idx="6"/>
            <a:endCxn id="31" idx="2"/>
          </p:cNvCxnSpPr>
          <p:nvPr/>
        </p:nvCxnSpPr>
        <p:spPr>
          <a:xfrm flipV="1">
            <a:off x="4677822" y="4152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4953000" y="34290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953000" y="46482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57600" y="32004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657600" y="3821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3581400" y="4736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Simpler algorithm for bipartite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Though bipartite could be solved using the max-flow algorithm, we could obtain a simpler implementation</a:t>
            </a:r>
          </a:p>
          <a:p>
            <a:r>
              <a:rPr lang="en-US" dirty="0" smtClean="0"/>
              <a:t>Why? 2 reasons</a:t>
            </a:r>
          </a:p>
          <a:p>
            <a:pPr lvl="1"/>
            <a:r>
              <a:rPr lang="en-US" dirty="0" smtClean="0"/>
              <a:t>All flows are 1</a:t>
            </a:r>
          </a:p>
          <a:p>
            <a:pPr lvl="1"/>
            <a:r>
              <a:rPr lang="en-US" dirty="0" smtClean="0"/>
              <a:t>Graph nature: 2 groups</a:t>
            </a:r>
          </a:p>
          <a:p>
            <a:r>
              <a:rPr lang="en-US" dirty="0" smtClean="0"/>
              <a:t>The simpler implementation is done using simple DFS function</a:t>
            </a:r>
            <a:endParaRPr lang="en-US" dirty="0" smtClean="0"/>
          </a:p>
          <a:p>
            <a:r>
              <a:rPr lang="en-US" dirty="0" smtClean="0"/>
              <a:t>See top coder tutorial for memory/operations reduction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Find the minimum number of paths to cover each vertex in V. Only in DAG graph. Paths can’t share edges.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hard. It is not based on a trick to convert to max flow problem. It is based on </a:t>
            </a:r>
            <a:r>
              <a:rPr lang="en-US" b="1" dirty="0" err="1" smtClean="0"/>
              <a:t>König's</a:t>
            </a:r>
            <a:r>
              <a:rPr lang="en-US" b="1" dirty="0" smtClean="0"/>
              <a:t> theorem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Theorem describes an equivalence between the maximum matching problem and the minimum vertex cover problem in bipartite graphs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600200" y="4648200"/>
            <a:ext cx="4575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have 1 path to cover all the nodes: 1-2-3-4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895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4"/>
            <a:endCxn id="6" idx="0"/>
          </p:cNvCxnSpPr>
          <p:nvPr/>
        </p:nvCxnSpPr>
        <p:spPr>
          <a:xfrm rot="5400000">
            <a:off x="2834211" y="3520011"/>
            <a:ext cx="533400" cy="46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6"/>
            <a:endCxn id="7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>
            <a:stCxn id="10" idx="6"/>
            <a:endCxn id="4" idx="2"/>
          </p:cNvCxnSpPr>
          <p:nvPr/>
        </p:nvCxnSpPr>
        <p:spPr>
          <a:xfrm flipV="1">
            <a:off x="1981200" y="3009900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6"/>
            <a:endCxn id="6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stCxn id="5" idx="6"/>
            <a:endCxn id="13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6"/>
            <a:endCxn id="13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5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24000" y="5029200"/>
            <a:ext cx="4847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1 path to cover all the nodes: 1 2 5 6 3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895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4"/>
            <a:endCxn id="6" idx="0"/>
          </p:cNvCxnSpPr>
          <p:nvPr/>
        </p:nvCxnSpPr>
        <p:spPr>
          <a:xfrm rot="5400000">
            <a:off x="2834211" y="3520011"/>
            <a:ext cx="533400" cy="46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>
            <a:stCxn id="10" idx="6"/>
            <a:endCxn id="4" idx="2"/>
          </p:cNvCxnSpPr>
          <p:nvPr/>
        </p:nvCxnSpPr>
        <p:spPr>
          <a:xfrm flipV="1">
            <a:off x="1981200" y="3009900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6"/>
            <a:endCxn id="6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stCxn id="5" idx="6"/>
            <a:endCxn id="13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6"/>
            <a:endCxn id="13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5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524000" y="5029200"/>
            <a:ext cx="394095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paths to cover all the nodes: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1 2 5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6 3 4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Note: there is no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src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sink. We don’t care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895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4"/>
            <a:endCxn id="6" idx="0"/>
          </p:cNvCxnSpPr>
          <p:nvPr/>
        </p:nvCxnSpPr>
        <p:spPr>
          <a:xfrm rot="5400000">
            <a:off x="2834211" y="3520011"/>
            <a:ext cx="533400" cy="4657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6"/>
            <a:endCxn id="7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2" name="Straight Arrow Connector 11"/>
          <p:cNvCxnSpPr>
            <a:stCxn id="10" idx="6"/>
            <a:endCxn id="6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5" name="Straight Arrow Connector 14"/>
          <p:cNvCxnSpPr>
            <a:stCxn id="7" idx="6"/>
            <a:endCxn id="13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5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219200" y="4549676"/>
            <a:ext cx="5254644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3 paths: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1 5 6 4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6 3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Note, we can’t have edge shared. So solution can’t be: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1 5 6 4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2 5 6 3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2895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4220622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8490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4220622" y="3810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8" name="Straight Arrow Connector 7"/>
          <p:cNvCxnSpPr>
            <a:stCxn id="4" idx="6"/>
            <a:endCxn id="5" idx="2"/>
          </p:cNvCxnSpPr>
          <p:nvPr/>
        </p:nvCxnSpPr>
        <p:spPr>
          <a:xfrm>
            <a:off x="3352800" y="3009900"/>
            <a:ext cx="867822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6" idx="6"/>
            <a:endCxn id="7" idx="2"/>
          </p:cNvCxnSpPr>
          <p:nvPr/>
        </p:nvCxnSpPr>
        <p:spPr>
          <a:xfrm>
            <a:off x="3306222" y="4076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219200" y="32004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Straight Arrow Connector 10"/>
          <p:cNvCxnSpPr>
            <a:stCxn id="10" idx="6"/>
            <a:endCxn id="4" idx="2"/>
          </p:cNvCxnSpPr>
          <p:nvPr/>
        </p:nvCxnSpPr>
        <p:spPr>
          <a:xfrm flipV="1">
            <a:off x="1981200" y="3009900"/>
            <a:ext cx="9144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10" idx="6"/>
            <a:endCxn id="6" idx="2"/>
          </p:cNvCxnSpPr>
          <p:nvPr/>
        </p:nvCxnSpPr>
        <p:spPr>
          <a:xfrm>
            <a:off x="1981200" y="3467100"/>
            <a:ext cx="867822" cy="609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410200" y="3276600"/>
            <a:ext cx="762000" cy="53340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Straight Arrow Connector 13"/>
          <p:cNvCxnSpPr>
            <a:stCxn id="5" idx="6"/>
            <a:endCxn id="13" idx="2"/>
          </p:cNvCxnSpPr>
          <p:nvPr/>
        </p:nvCxnSpPr>
        <p:spPr>
          <a:xfrm>
            <a:off x="4677822" y="30099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7" idx="6"/>
            <a:endCxn id="13" idx="2"/>
          </p:cNvCxnSpPr>
          <p:nvPr/>
        </p:nvCxnSpPr>
        <p:spPr>
          <a:xfrm flipV="1">
            <a:off x="4677822" y="3543300"/>
            <a:ext cx="732378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7" idx="0"/>
            <a:endCxn id="5" idx="4"/>
          </p:cNvCxnSpPr>
          <p:nvPr/>
        </p:nvCxnSpPr>
        <p:spPr>
          <a:xfrm rot="5400000" flipH="1" flipV="1">
            <a:off x="4182522" y="3543300"/>
            <a:ext cx="533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371600" y="4800600"/>
            <a:ext cx="471872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many ways, each one need 2 paths: E.g.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2 3 4 and 5 6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Or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2 and 5 6 3 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Path Coverage in DAG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How to solve?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First, build the adjacency matrix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Think in it as 2N nodes. Rows as group. Columns 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group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Construct new graph with 2N nodes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Solve max flow. Let m = maximum matching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#paths = N - 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DAG adjacency matrix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33400" y="47244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"/>
                <a:gridCol w="518160"/>
                <a:gridCol w="518160"/>
                <a:gridCol w="518160"/>
                <a:gridCol w="518160"/>
              </a:tblGrid>
              <a:tr h="30480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4572000" y="3828871"/>
            <a:ext cx="428835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Now, think that we have 2 sets of nodes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Each from 1-4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is we will have 8 nodes not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Build their edges according to the adjacency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2286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2954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908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9624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Arrow Connector 44"/>
          <p:cNvCxnSpPr>
            <a:stCxn id="41" idx="6"/>
            <a:endCxn id="42" idx="2"/>
          </p:cNvCxnSpPr>
          <p:nvPr/>
        </p:nvCxnSpPr>
        <p:spPr>
          <a:xfrm>
            <a:off x="685800" y="29337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2" idx="6"/>
            <a:endCxn id="43" idx="2"/>
          </p:cNvCxnSpPr>
          <p:nvPr/>
        </p:nvCxnSpPr>
        <p:spPr>
          <a:xfrm>
            <a:off x="1752600" y="29337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6"/>
            <a:endCxn id="44" idx="2"/>
          </p:cNvCxnSpPr>
          <p:nvPr/>
        </p:nvCxnSpPr>
        <p:spPr>
          <a:xfrm>
            <a:off x="3048000" y="2933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257800" y="2590800"/>
            <a:ext cx="2755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Answer = 1 path is enough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DAG adjacency matrix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33400" y="47244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"/>
                <a:gridCol w="518160"/>
                <a:gridCol w="518160"/>
                <a:gridCol w="518160"/>
                <a:gridCol w="518160"/>
              </a:tblGrid>
              <a:tr h="30480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1" name="Oval 40"/>
          <p:cNvSpPr/>
          <p:nvPr/>
        </p:nvSpPr>
        <p:spPr>
          <a:xfrm>
            <a:off x="2286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2954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25908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3962400" y="2667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5" name="Straight Arrow Connector 44"/>
          <p:cNvCxnSpPr>
            <a:stCxn id="41" idx="6"/>
            <a:endCxn id="42" idx="2"/>
          </p:cNvCxnSpPr>
          <p:nvPr/>
        </p:nvCxnSpPr>
        <p:spPr>
          <a:xfrm>
            <a:off x="685800" y="29337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42" idx="6"/>
            <a:endCxn id="43" idx="2"/>
          </p:cNvCxnSpPr>
          <p:nvPr/>
        </p:nvCxnSpPr>
        <p:spPr>
          <a:xfrm>
            <a:off x="1752600" y="29337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stCxn id="43" idx="6"/>
            <a:endCxn id="44" idx="2"/>
          </p:cNvCxnSpPr>
          <p:nvPr/>
        </p:nvCxnSpPr>
        <p:spPr>
          <a:xfrm>
            <a:off x="3048000" y="29337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2800" y="5486400"/>
            <a:ext cx="1996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=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 = 3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#paths = N – M =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943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43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5943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5943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1" name="Straight Arrow Connector 30"/>
          <p:cNvCxnSpPr>
            <a:stCxn id="28" idx="5"/>
            <a:endCxn id="37" idx="2"/>
          </p:cNvCxnSpPr>
          <p:nvPr/>
        </p:nvCxnSpPr>
        <p:spPr>
          <a:xfrm rot="16200000" flipH="1">
            <a:off x="6880715" y="31088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29" idx="6"/>
            <a:endCxn id="38" idx="1"/>
          </p:cNvCxnSpPr>
          <p:nvPr/>
        </p:nvCxnSpPr>
        <p:spPr>
          <a:xfrm>
            <a:off x="6400800" y="4457700"/>
            <a:ext cx="18957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7" idx="5"/>
            <a:endCxn id="36" idx="2"/>
          </p:cNvCxnSpPr>
          <p:nvPr/>
        </p:nvCxnSpPr>
        <p:spPr>
          <a:xfrm rot="16200000" flipH="1">
            <a:off x="6880715" y="21182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229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229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229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229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1828800"/>
            <a:ext cx="4875502" cy="480131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know that the path is: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1-2-3-4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matching was for edges: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1-2, 2-3, and 3-4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is, maximum matching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covered all the path edges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a good way to get the paths themselves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Start from right side. Pick unvisited node.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Mark it visited. Keep moving from left to right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To left and so on Till reach the last node of a path.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Again, Find  unvisited node on right side.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What more?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5943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5943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943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5943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9" name="Straight Arrow Connector 28"/>
          <p:cNvCxnSpPr>
            <a:stCxn id="25" idx="5"/>
            <a:endCxn id="35" idx="2"/>
          </p:cNvCxnSpPr>
          <p:nvPr/>
        </p:nvCxnSpPr>
        <p:spPr>
          <a:xfrm rot="16200000" flipH="1">
            <a:off x="6880715" y="31088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27" idx="6"/>
            <a:endCxn id="36" idx="1"/>
          </p:cNvCxnSpPr>
          <p:nvPr/>
        </p:nvCxnSpPr>
        <p:spPr>
          <a:xfrm>
            <a:off x="6400800" y="4457700"/>
            <a:ext cx="18957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24" idx="5"/>
            <a:endCxn id="34" idx="2"/>
          </p:cNvCxnSpPr>
          <p:nvPr/>
        </p:nvCxnSpPr>
        <p:spPr>
          <a:xfrm rot="16200000" flipH="1">
            <a:off x="6880715" y="21182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8229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Oval 33"/>
          <p:cNvSpPr/>
          <p:nvPr/>
        </p:nvSpPr>
        <p:spPr>
          <a:xfrm>
            <a:off x="8229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8229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229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Interpretation</a:t>
            </a:r>
          </a:p>
        </p:txBody>
      </p:sp>
      <p:sp>
        <p:nvSpPr>
          <p:cNvPr id="12" name="Oval 11"/>
          <p:cNvSpPr/>
          <p:nvPr/>
        </p:nvSpPr>
        <p:spPr>
          <a:xfrm>
            <a:off x="5943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5943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43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943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6" name="Straight Arrow Connector 15"/>
          <p:cNvCxnSpPr>
            <a:stCxn id="13" idx="5"/>
            <a:endCxn id="21" idx="2"/>
          </p:cNvCxnSpPr>
          <p:nvPr/>
        </p:nvCxnSpPr>
        <p:spPr>
          <a:xfrm rot="16200000" flipH="1">
            <a:off x="6880715" y="31088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>
            <a:stCxn id="14" idx="6"/>
            <a:endCxn id="22" idx="1"/>
          </p:cNvCxnSpPr>
          <p:nvPr/>
        </p:nvCxnSpPr>
        <p:spPr>
          <a:xfrm>
            <a:off x="6400800" y="4457700"/>
            <a:ext cx="18957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12" idx="5"/>
            <a:endCxn id="20" idx="2"/>
          </p:cNvCxnSpPr>
          <p:nvPr/>
        </p:nvCxnSpPr>
        <p:spPr>
          <a:xfrm rot="16200000" flipH="1">
            <a:off x="6880715" y="21182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/>
          <p:cNvSpPr/>
          <p:nvPr/>
        </p:nvSpPr>
        <p:spPr>
          <a:xfrm>
            <a:off x="8229600" y="2209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8229600" y="3200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8229600" y="41910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8229600" y="5257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52400" y="2057400"/>
            <a:ext cx="575670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matching was 3 edges. When think in them as series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Of edges, they are a path.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 was matched with 2, 2 was matched with 3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and 3 was matched with 4. But 4 was matched with nothing.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is expected, the last node in path won’t be matched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That is, we know every unmatched node on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left side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represent end of a path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So, when we do N-M, we get the unmatched nodes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Hence, we get the # of paths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DAG adjacency matrix</a:t>
            </a:r>
          </a:p>
        </p:txBody>
      </p:sp>
      <p:sp>
        <p:nvSpPr>
          <p:cNvPr id="5" name="Oval 4"/>
          <p:cNvSpPr/>
          <p:nvPr/>
        </p:nvSpPr>
        <p:spPr>
          <a:xfrm>
            <a:off x="1600200" y="2362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2590800" y="3124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85800" y="3124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1600200" y="4038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9" name="Straight Arrow Connector 8"/>
          <p:cNvCxnSpPr>
            <a:stCxn id="7" idx="5"/>
            <a:endCxn id="8" idx="2"/>
          </p:cNvCxnSpPr>
          <p:nvPr/>
        </p:nvCxnSpPr>
        <p:spPr>
          <a:xfrm rot="16200000" flipH="1">
            <a:off x="975215" y="3680314"/>
            <a:ext cx="725815" cy="5241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5" idx="4"/>
            <a:endCxn id="8" idx="0"/>
          </p:cNvCxnSpPr>
          <p:nvPr/>
        </p:nvCxnSpPr>
        <p:spPr>
          <a:xfrm rot="5400000">
            <a:off x="1257300" y="3467100"/>
            <a:ext cx="1143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6" idx="3"/>
            <a:endCxn id="8" idx="6"/>
          </p:cNvCxnSpPr>
          <p:nvPr/>
        </p:nvCxnSpPr>
        <p:spPr>
          <a:xfrm rot="5400000">
            <a:off x="1994671" y="3642215"/>
            <a:ext cx="725815" cy="6003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4"/>
            <a:endCxn id="7" idx="6"/>
          </p:cNvCxnSpPr>
          <p:nvPr/>
        </p:nvCxnSpPr>
        <p:spPr>
          <a:xfrm rot="5400000">
            <a:off x="1238250" y="2800350"/>
            <a:ext cx="495300" cy="685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5" idx="4"/>
            <a:endCxn id="6" idx="2"/>
          </p:cNvCxnSpPr>
          <p:nvPr/>
        </p:nvCxnSpPr>
        <p:spPr>
          <a:xfrm rot="16200000" flipH="1">
            <a:off x="1962150" y="2762250"/>
            <a:ext cx="495300" cy="762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800600" y="2133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4800600" y="3124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4800600" y="4114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4800600" y="5181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8" name="Straight Arrow Connector 17"/>
          <p:cNvCxnSpPr>
            <a:stCxn id="15" idx="5"/>
            <a:endCxn id="31" idx="1"/>
          </p:cNvCxnSpPr>
          <p:nvPr/>
        </p:nvCxnSpPr>
        <p:spPr>
          <a:xfrm rot="16200000" flipH="1">
            <a:off x="5332085" y="3438245"/>
            <a:ext cx="1680230" cy="1962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16" idx="6"/>
            <a:endCxn id="31" idx="1"/>
          </p:cNvCxnSpPr>
          <p:nvPr/>
        </p:nvCxnSpPr>
        <p:spPr>
          <a:xfrm>
            <a:off x="5257800" y="4381500"/>
            <a:ext cx="1895755" cy="87821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14" idx="5"/>
            <a:endCxn id="28" idx="2"/>
          </p:cNvCxnSpPr>
          <p:nvPr/>
        </p:nvCxnSpPr>
        <p:spPr>
          <a:xfrm rot="16200000" flipH="1">
            <a:off x="5737715" y="2042014"/>
            <a:ext cx="8020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7086600" y="2133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086600" y="3124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086600" y="41148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086600" y="5181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7" name="Straight Arrow Connector 36"/>
          <p:cNvCxnSpPr>
            <a:stCxn id="14" idx="5"/>
            <a:endCxn id="29" idx="2"/>
          </p:cNvCxnSpPr>
          <p:nvPr/>
        </p:nvCxnSpPr>
        <p:spPr>
          <a:xfrm rot="16200000" flipH="1">
            <a:off x="5242415" y="2537314"/>
            <a:ext cx="1792615" cy="1895755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14" idx="5"/>
            <a:endCxn id="31" idx="1"/>
          </p:cNvCxnSpPr>
          <p:nvPr/>
        </p:nvCxnSpPr>
        <p:spPr>
          <a:xfrm rot="16200000" flipH="1">
            <a:off x="4836785" y="2942945"/>
            <a:ext cx="2670830" cy="196271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533400" y="4724400"/>
          <a:ext cx="25908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160"/>
                <a:gridCol w="518160"/>
                <a:gridCol w="518160"/>
                <a:gridCol w="518160"/>
                <a:gridCol w="518160"/>
              </a:tblGrid>
              <a:tr h="30480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352800" y="5486400"/>
            <a:ext cx="19960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 = 4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 = 2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#paths = N – M =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Other concepts to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Min Edge Coverage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Max Independent Set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MinCut</a:t>
            </a:r>
            <a:r>
              <a:rPr lang="en-US" dirty="0" smtClean="0"/>
              <a:t> Edges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640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This time we don’t want just the cost…we also need the edges of min cut itself. Note, answer is not unique. In this case answer is 2-3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If all edges costs are 5, then any edge could be used as min cut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6800" y="5486400"/>
            <a:ext cx="4607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 Question: How to find any set of edges…</a:t>
            </a:r>
          </a:p>
          <a:p>
            <a:r>
              <a:rPr lang="en-US" dirty="0" smtClean="0"/>
              <a:t>	let’s see the flow after remove paths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MinCut</a:t>
            </a:r>
            <a:r>
              <a:rPr lang="en-US" dirty="0" smtClean="0"/>
              <a:t> Edges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is clear a min cut edge is a one with remaining flow zero!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But again, if all edges were 5, we will have 3 edges with remaining  = 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14400" y="5105400"/>
            <a:ext cx="800584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Definition:</a:t>
            </a:r>
          </a:p>
          <a:p>
            <a:r>
              <a:rPr lang="en-US" dirty="0" smtClean="0"/>
              <a:t>	The cut of vertex S-T is :  set of edges if removed, disconnect  S from T</a:t>
            </a:r>
          </a:p>
          <a:p>
            <a:endParaRPr lang="en-US" dirty="0" smtClean="0"/>
          </a:p>
          <a:p>
            <a:r>
              <a:rPr lang="en-US" dirty="0" smtClean="0"/>
              <a:t>Then we need these edges that make them disconnected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MinCut</a:t>
            </a:r>
            <a:r>
              <a:rPr lang="en-US" dirty="0" smtClean="0"/>
              <a:t> Edges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7162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Idea is that: such edges will have edges connected with S from one side, and other edges connected to T from the other side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8200" y="4459069"/>
            <a:ext cx="7162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Sol: Flood fill from S to find all its edges (edges that has remaining flow &gt; 0). Mark all reachable vertices as S. Remaining will be T.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Then: Any edge with vertex marked with S  from side and T from other side is a 0 remaining flow edge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It will be connecting S-T and now it is min cut edge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MinCut</a:t>
            </a:r>
            <a:r>
              <a:rPr lang="en-US" dirty="0" smtClean="0"/>
              <a:t> Edges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3745468"/>
            <a:ext cx="7162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Node 1 could reach 2. But 2 can’t reach 3 as 2-3 has remaining flow = 0</a:t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Then 1, 2 are S. 3, 4 are T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Edge 2-3 is an S-T edge. It will be a min Cut edge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Find </a:t>
            </a:r>
            <a:r>
              <a:rPr lang="en-US" dirty="0" err="1" smtClean="0"/>
              <a:t>MinCut</a:t>
            </a:r>
            <a:r>
              <a:rPr lang="en-US" dirty="0" smtClean="0"/>
              <a:t> Edges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27432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0099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0099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0099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25146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6172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Destroy min on first path 2 and minimum on 2</a:t>
            </a:r>
            <a:r>
              <a:rPr lang="en-US" baseline="30000" dirty="0" smtClean="0">
                <a:latin typeface="Times New Roman" pitchFamily="18" charset="0"/>
                <a:cs typeface="Times New Roman" pitchFamily="18" charset="0"/>
              </a:rPr>
              <a:t>nd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path = 5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So min cut 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27051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27416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7" idx="2"/>
          </p:cNvCxnSpPr>
          <p:nvPr/>
        </p:nvCxnSpPr>
        <p:spPr>
          <a:xfrm>
            <a:off x="4572000" y="27051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20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1518" y="267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Now flood from 1 and move in any edge with remaining flow &gt; 0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27051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27416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7" idx="2"/>
          </p:cNvCxnSpPr>
          <p:nvPr/>
        </p:nvCxnSpPr>
        <p:spPr>
          <a:xfrm>
            <a:off x="4572000" y="27051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20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1518" y="267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685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S-T edges. These are the min Cut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28194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stCxn id="4" idx="6"/>
            <a:endCxn id="20" idx="2"/>
          </p:cNvCxnSpPr>
          <p:nvPr/>
        </p:nvCxnSpPr>
        <p:spPr>
          <a:xfrm flipV="1">
            <a:off x="2209800" y="2705100"/>
            <a:ext cx="6096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3276600" y="2741612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6"/>
            <a:endCxn id="7" idx="2"/>
          </p:cNvCxnSpPr>
          <p:nvPr/>
        </p:nvCxnSpPr>
        <p:spPr>
          <a:xfrm>
            <a:off x="4572000" y="2705100"/>
            <a:ext cx="914400" cy="838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290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394502" y="220980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81518" y="26786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7467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could destroy edge 1-2 = 9, but could we do better?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Yes we have 2 paths, and their minimum is 2-6 = 3 and 2-3 = 5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Destroy these 2 edges of cost = 8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Again, these are the bottlenecks for max flow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9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7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paths, and their minimum is 2-6 = 3 and 2-3 = 5</a:t>
            </a:r>
          </a:p>
          <a:p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Remove these 2 paths flow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6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4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746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Again flood from 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5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sp>
        <p:nvSpPr>
          <p:cNvPr id="4" name="Oval 3"/>
          <p:cNvSpPr/>
          <p:nvPr/>
        </p:nvSpPr>
        <p:spPr>
          <a:xfrm>
            <a:off x="17526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819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Oval 5"/>
          <p:cNvSpPr/>
          <p:nvPr/>
        </p:nvSpPr>
        <p:spPr>
          <a:xfrm>
            <a:off x="41148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5486400" y="32766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0" name="Straight Arrow Connector 9"/>
          <p:cNvCxnSpPr>
            <a:stCxn id="4" idx="6"/>
            <a:endCxn id="5" idx="2"/>
          </p:cNvCxnSpPr>
          <p:nvPr/>
        </p:nvCxnSpPr>
        <p:spPr>
          <a:xfrm>
            <a:off x="2209800" y="3543300"/>
            <a:ext cx="6096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6"/>
            <a:endCxn id="6" idx="2"/>
          </p:cNvCxnSpPr>
          <p:nvPr/>
        </p:nvCxnSpPr>
        <p:spPr>
          <a:xfrm>
            <a:off x="3276600" y="3543300"/>
            <a:ext cx="8382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>
            <a:stCxn id="6" idx="6"/>
            <a:endCxn id="7" idx="2"/>
          </p:cNvCxnSpPr>
          <p:nvPr/>
        </p:nvCxnSpPr>
        <p:spPr>
          <a:xfrm>
            <a:off x="4572000" y="3543300"/>
            <a:ext cx="9144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3622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1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394502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800600" y="3593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8200" y="4618672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We have 2 S-T edges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The mentioned method  is based on why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MinCut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MaxFlow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theorem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4114800" y="2438400"/>
            <a:ext cx="457200" cy="533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T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22" name="Straight Arrow Connector 21"/>
          <p:cNvCxnSpPr>
            <a:endCxn id="21" idx="4"/>
          </p:cNvCxnSpPr>
          <p:nvPr/>
        </p:nvCxnSpPr>
        <p:spPr>
          <a:xfrm flipV="1">
            <a:off x="3276600" y="2971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21" idx="4"/>
            <a:endCxn id="7" idx="2"/>
          </p:cNvCxnSpPr>
          <p:nvPr/>
        </p:nvCxnSpPr>
        <p:spPr>
          <a:xfrm rot="16200000" flipH="1">
            <a:off x="4629150" y="2686050"/>
            <a:ext cx="571500" cy="11430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433718" y="27548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0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00600" y="283106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3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Helper Codes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Some codes attached to show coding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1277</TotalTime>
  <Words>2217</Words>
  <Application>Microsoft Office PowerPoint</Application>
  <PresentationFormat>On-screen Show (4:3)</PresentationFormat>
  <Paragraphs>689</Paragraphs>
  <Slides>51</Slides>
  <Notes>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Flow</vt:lpstr>
      <vt:lpstr>Max Flow - Min Cut   Applications</vt:lpstr>
      <vt:lpstr>Maximum edge-disjoint path</vt:lpstr>
      <vt:lpstr>Maximum edge-disjoint path</vt:lpstr>
      <vt:lpstr>Maximum edge-disjoint path</vt:lpstr>
      <vt:lpstr>Maximum edge-disjoint path</vt:lpstr>
      <vt:lpstr>Capacities on vertices</vt:lpstr>
      <vt:lpstr>Capacities on vertices</vt:lpstr>
      <vt:lpstr>Vertex Splitting</vt:lpstr>
      <vt:lpstr>Vertex Splitting</vt:lpstr>
      <vt:lpstr>Vertex Splitting</vt:lpstr>
      <vt:lpstr>Vertex Splitting</vt:lpstr>
      <vt:lpstr>Maximum independent path</vt:lpstr>
      <vt:lpstr>Maximum independent path</vt:lpstr>
      <vt:lpstr>Multi-source Multi-sink</vt:lpstr>
      <vt:lpstr>Multi-source Multi-sink</vt:lpstr>
      <vt:lpstr>Multi-source Multi-sink</vt:lpstr>
      <vt:lpstr>Bipartite graph</vt:lpstr>
      <vt:lpstr>Tree is Bipartite graph </vt:lpstr>
      <vt:lpstr>DAG is NOT Bipartite graph </vt:lpstr>
      <vt:lpstr>Interesting Bipartite graph </vt:lpstr>
      <vt:lpstr>Maximum bipartite matching</vt:lpstr>
      <vt:lpstr>Maximum bipartite matching</vt:lpstr>
      <vt:lpstr>Maximum bipartite matching</vt:lpstr>
      <vt:lpstr>Maximum bipartite matching</vt:lpstr>
      <vt:lpstr>Simpler algorithm for bipartite</vt:lpstr>
      <vt:lpstr>Min Path Coverage in DAG</vt:lpstr>
      <vt:lpstr>Min Path Coverage in DAG</vt:lpstr>
      <vt:lpstr>Min Path Coverage in DAG</vt:lpstr>
      <vt:lpstr>Min Path Coverage in DAG</vt:lpstr>
      <vt:lpstr>Min Path Coverage in DAG</vt:lpstr>
      <vt:lpstr>Min Path Coverage in DAG</vt:lpstr>
      <vt:lpstr>Min Path Coverage in DAG</vt:lpstr>
      <vt:lpstr>DAG adjacency matrix</vt:lpstr>
      <vt:lpstr>DAG adjacency matrix</vt:lpstr>
      <vt:lpstr>Interpretation</vt:lpstr>
      <vt:lpstr>Interpretation</vt:lpstr>
      <vt:lpstr>DAG adjacency matrix</vt:lpstr>
      <vt:lpstr>Other concepts to check</vt:lpstr>
      <vt:lpstr>Find MinCut Edges</vt:lpstr>
      <vt:lpstr>Find MinCut Edges</vt:lpstr>
      <vt:lpstr>Find MinCut Edges</vt:lpstr>
      <vt:lpstr>Find MinCut Edges</vt:lpstr>
      <vt:lpstr>Find MinCut Edges</vt:lpstr>
      <vt:lpstr>Example</vt:lpstr>
      <vt:lpstr>Example</vt:lpstr>
      <vt:lpstr>Example</vt:lpstr>
      <vt:lpstr>Example</vt:lpstr>
      <vt:lpstr>Example</vt:lpstr>
      <vt:lpstr>Example</vt:lpstr>
      <vt:lpstr>Example</vt:lpstr>
      <vt:lpstr>Helper Codes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Max Flow - Min Cut</dc:title>
  <dc:creator>Mostafa Saad</dc:creator>
  <cp:lastModifiedBy>Mostafa Saad</cp:lastModifiedBy>
  <cp:revision>72</cp:revision>
  <dcterms:created xsi:type="dcterms:W3CDTF">2014-02-22T19:06:56Z</dcterms:created>
  <dcterms:modified xsi:type="dcterms:W3CDTF">2014-03-26T08:20:33Z</dcterms:modified>
</cp:coreProperties>
</file>