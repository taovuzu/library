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7" r:id="rId8"/>
    <p:sldId id="268" r:id="rId9"/>
    <p:sldId id="269" r:id="rId10"/>
    <p:sldId id="260" r:id="rId11"/>
    <p:sldId id="270" r:id="rId12"/>
    <p:sldId id="271" r:id="rId13"/>
    <p:sldId id="272" r:id="rId14"/>
    <p:sldId id="261" r:id="rId15"/>
    <p:sldId id="262" r:id="rId16"/>
    <p:sldId id="273" r:id="rId17"/>
    <p:sldId id="274" r:id="rId18"/>
    <p:sldId id="263" r:id="rId19"/>
    <p:sldId id="26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6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DB5D082-5B6E-41DC-B5D5-E490ED116D72}" type="datetimeFigureOut">
              <a:rPr lang="en-US" smtClean="0"/>
              <a:pPr/>
              <a:t>2/24/2014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 smtClean="0"/>
              <a:t>Max Flow - Min Cut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By Mostafa Saad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 Flow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Given a directed graph represents roads. Weight on edge represents maximum # of cars to pass on this car.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2 stores, and we need to send maximum number of cars from first to second.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So, we need to find set of paths to send cars through them from Start to End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call first node source (S) and call second node Sink (T)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call answer s-t flow. Flow means flow over edges (think in pipes that send water)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745468"/>
            <a:ext cx="298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could send on 1-2 = 9 cars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could send on 2-3 = 5 cars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could send on 3-4 = 7 cars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32524" y="3733800"/>
            <a:ext cx="29826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Edge 2-3 is bottleneck as if we sent from 1-2 = 9 cars, we can’t pass more than 5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max flow of a path is the minimum value on it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29826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we could have 2 paths: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on 1-2-3-4 = 5 cars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on 1-5-6-4 = 2 cars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7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8194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209800" y="27051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76600" y="27416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6"/>
            <a:endCxn id="7" idx="2"/>
          </p:cNvCxnSpPr>
          <p:nvPr/>
        </p:nvCxnSpPr>
        <p:spPr>
          <a:xfrm>
            <a:off x="4572000" y="2705100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0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4502" y="220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81518" y="267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29826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we could have 2 paths: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on 1-2-3-4 = 5 cars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on 1-2-6-4 = 3 cars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8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trivial but wrong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Loop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Could we find path P?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no, Stop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yes</a:t>
            </a:r>
          </a:p>
          <a:p>
            <a:pPr lvl="3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Max_Flow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+= P_FLOW</a:t>
            </a:r>
          </a:p>
          <a:p>
            <a:pPr lvl="3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it from graph.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298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Could you find path P?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Yes = 1-2-3-4 = 5 cars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298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Could you find path P?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Yes = 1-2-6-4 = 3 cars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+= 3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2982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Could you find path P?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is 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 Cut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Given a weighted directed graph. Each node represents a city. We are in a war. We would like to destroy the roads to prevent city A to send weapons to city B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Edges costs is cost of destroying a road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Any set of edges to disconnect A from B is called cut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minimum edges to achieve the task are Min Cut Edges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745468"/>
            <a:ext cx="64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could destroy all edges, but this is very costive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we have just 1 path, make sense to destroy 1 edge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Also, greedily this edge is the minimum edge = 5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Remember, max flow also was restricted because of this edge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617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we could have 2 paths: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on 1-2-3-4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on 1-5-6-4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Destroy min on first path 2 and minimum on 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path =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min cut = 7 = max flow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8194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209800" y="27051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76600" y="27416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6"/>
            <a:endCxn id="7" idx="2"/>
          </p:cNvCxnSpPr>
          <p:nvPr/>
        </p:nvCxnSpPr>
        <p:spPr>
          <a:xfrm>
            <a:off x="4572000" y="2705100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0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4502" y="220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81518" y="267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746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could destroy edge 1-2 = 9, but could we do better?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Yes we have 2 paths, and their minimum is 2-6 = 3 and 2-3 = 5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Destroy these 2 edges of cost = 8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Again, these are the bottlenecks for max flow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 Flow Min Cut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max-flow min-cut theorem states that in a flow network,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maximum amount of flow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passing from the source to the sink is equal to 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minimum capacity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that, when removed in a specific way from the network, causes the situation that no flow can pass from the source to the sink.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other words, theorem proves that Max Flow = Min Cut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the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6518" y="2297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43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5029200"/>
            <a:ext cx="35668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is max flow? We have 2 paths: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3 – 4 = 1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2 – 4 = 1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total flow = 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the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6518" y="2297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43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5029200"/>
            <a:ext cx="43333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if the algorithm found the path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2 – 3 – 4 =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 let’s remove path and find another path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to the algorithm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6518" y="2297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43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5029200"/>
            <a:ext cx="2540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Opps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…No more paths!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max flow is 2 NOT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Ford–Fulkerson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Described a modification to the algorithm that could cancel some flows to find more paths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Idea is simple: When we move in direction and take flow, f, we remove it from this edge 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add the reverse of this edge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future, if a path is requested, it could cancel a flow (move in reverse edge) to find a better path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way, we MODIFY old flows to gain higher flows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Ford–Fulkerson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we keep updating the graph with reversed edges, this is not the original graph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Updated graph is called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residual graph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path we get in the residual graph is called: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augmenting path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Ford–Fulkerson method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6518" y="2297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43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5029200"/>
            <a:ext cx="32816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Let’s find a path: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2 – 3 – 4 =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the flow from the path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Reversed edge with the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Ford–Fulkerson method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7"/>
            <a:endCxn id="5" idx="1"/>
          </p:cNvCxnSpPr>
          <p:nvPr/>
        </p:nvCxnSpPr>
        <p:spPr>
          <a:xfrm rot="5400000" flipH="1" flipV="1">
            <a:off x="2514600" y="2982960"/>
            <a:ext cx="1588" cy="743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7"/>
            <a:endCxn id="6" idx="1"/>
          </p:cNvCxnSpPr>
          <p:nvPr/>
        </p:nvCxnSpPr>
        <p:spPr>
          <a:xfrm rot="5400000" flipH="1" flipV="1">
            <a:off x="3695700" y="2868660"/>
            <a:ext cx="1588" cy="972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7"/>
            <a:endCxn id="7" idx="1"/>
          </p:cNvCxnSpPr>
          <p:nvPr/>
        </p:nvCxnSpPr>
        <p:spPr>
          <a:xfrm rot="5400000" flipH="1" flipV="1">
            <a:off x="5029200" y="2830560"/>
            <a:ext cx="1588" cy="1048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0" y="2971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33718" y="3048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048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6518" y="2297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43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9200" y="50292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 1’s are removed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3 reverse edges removed</a:t>
            </a:r>
          </a:p>
        </p:txBody>
      </p:sp>
      <p:cxnSp>
        <p:nvCxnSpPr>
          <p:cNvPr id="44" name="Straight Arrow Connector 43"/>
          <p:cNvCxnSpPr>
            <a:stCxn id="5" idx="3"/>
            <a:endCxn id="4" idx="5"/>
          </p:cNvCxnSpPr>
          <p:nvPr/>
        </p:nvCxnSpPr>
        <p:spPr>
          <a:xfrm rot="5400000">
            <a:off x="2514600" y="3360130"/>
            <a:ext cx="1588" cy="7435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3"/>
            <a:endCxn id="5" idx="5"/>
          </p:cNvCxnSpPr>
          <p:nvPr/>
        </p:nvCxnSpPr>
        <p:spPr>
          <a:xfrm rot="5400000">
            <a:off x="3695700" y="3245830"/>
            <a:ext cx="1588" cy="972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7" idx="3"/>
            <a:endCxn id="6" idx="5"/>
          </p:cNvCxnSpPr>
          <p:nvPr/>
        </p:nvCxnSpPr>
        <p:spPr>
          <a:xfrm rot="5400000">
            <a:off x="5029200" y="3207730"/>
            <a:ext cx="1588" cy="10483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62200" y="3745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81400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800600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Ford–Fulkerson method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7"/>
            <a:endCxn id="5" idx="1"/>
          </p:cNvCxnSpPr>
          <p:nvPr/>
        </p:nvCxnSpPr>
        <p:spPr>
          <a:xfrm rot="5400000" flipH="1" flipV="1">
            <a:off x="2514600" y="2982960"/>
            <a:ext cx="1588" cy="743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7"/>
            <a:endCxn id="6" idx="1"/>
          </p:cNvCxnSpPr>
          <p:nvPr/>
        </p:nvCxnSpPr>
        <p:spPr>
          <a:xfrm rot="5400000" flipH="1" flipV="1">
            <a:off x="3695700" y="2868660"/>
            <a:ext cx="1588" cy="972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7"/>
            <a:endCxn id="7" idx="1"/>
          </p:cNvCxnSpPr>
          <p:nvPr/>
        </p:nvCxnSpPr>
        <p:spPr>
          <a:xfrm rot="5400000" flipH="1" flipV="1">
            <a:off x="5029200" y="2830560"/>
            <a:ext cx="1588" cy="1048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0" y="2971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33718" y="3048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048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6518" y="2297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43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4" name="Straight Arrow Connector 43"/>
          <p:cNvCxnSpPr>
            <a:stCxn id="5" idx="3"/>
            <a:endCxn id="4" idx="5"/>
          </p:cNvCxnSpPr>
          <p:nvPr/>
        </p:nvCxnSpPr>
        <p:spPr>
          <a:xfrm rot="5400000">
            <a:off x="2514600" y="3360130"/>
            <a:ext cx="1588" cy="7435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3"/>
            <a:endCxn id="5" idx="5"/>
          </p:cNvCxnSpPr>
          <p:nvPr/>
        </p:nvCxnSpPr>
        <p:spPr>
          <a:xfrm rot="5400000">
            <a:off x="3695700" y="3245830"/>
            <a:ext cx="1588" cy="972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7" idx="3"/>
            <a:endCxn id="6" idx="5"/>
          </p:cNvCxnSpPr>
          <p:nvPr/>
        </p:nvCxnSpPr>
        <p:spPr>
          <a:xfrm rot="5400000">
            <a:off x="5029200" y="3207730"/>
            <a:ext cx="1588" cy="10483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62200" y="3745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81400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800600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8200" y="4876800"/>
            <a:ext cx="754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Now, could we find another path? Yes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3 – 2 – 4 = 1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we have another flow of 1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Notice, this path is not in original graph!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Let’s remove / add reversed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Ford–Fulkerson method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7"/>
            <a:endCxn id="5" idx="1"/>
          </p:cNvCxnSpPr>
          <p:nvPr/>
        </p:nvCxnSpPr>
        <p:spPr>
          <a:xfrm rot="5400000" flipH="1" flipV="1">
            <a:off x="2514600" y="2982960"/>
            <a:ext cx="1588" cy="743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7"/>
            <a:endCxn id="6" idx="1"/>
          </p:cNvCxnSpPr>
          <p:nvPr/>
        </p:nvCxnSpPr>
        <p:spPr>
          <a:xfrm rot="5400000" flipH="1" flipV="1">
            <a:off x="3695700" y="2868660"/>
            <a:ext cx="1588" cy="972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7"/>
            <a:endCxn id="7" idx="1"/>
          </p:cNvCxnSpPr>
          <p:nvPr/>
        </p:nvCxnSpPr>
        <p:spPr>
          <a:xfrm rot="5400000" flipH="1" flipV="1">
            <a:off x="5029200" y="2830560"/>
            <a:ext cx="1588" cy="1048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0" y="2971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33718" y="3048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3048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Curved Connector 19"/>
          <p:cNvCxnSpPr>
            <a:stCxn id="4" idx="0"/>
            <a:endCxn id="6" idx="0"/>
          </p:cNvCxnSpPr>
          <p:nvPr/>
        </p:nvCxnSpPr>
        <p:spPr>
          <a:xfrm rot="5400000" flipH="1" flipV="1">
            <a:off x="3162300" y="2095500"/>
            <a:ext cx="1588" cy="23622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" idx="4"/>
            <a:endCxn id="7" idx="4"/>
          </p:cNvCxnSpPr>
          <p:nvPr/>
        </p:nvCxnSpPr>
        <p:spPr>
          <a:xfrm rot="16200000" flipH="1">
            <a:off x="4381500" y="2476500"/>
            <a:ext cx="1588" cy="2667000"/>
          </a:xfrm>
          <a:prstGeom prst="curvedConnector3">
            <a:avLst>
              <a:gd name="adj1" fmla="val 30972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718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267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4800" y="5449669"/>
            <a:ext cx="65838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Notice that edge 2-3 back to 5 and the 1 in reversed edge is cancelled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called flow cancellation.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Also, network shape as if we did 2 flows from start 1-3-4 and 1-2-4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rot="5400000">
            <a:off x="2504561" y="3362839"/>
            <a:ext cx="1588" cy="7435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3"/>
            <a:endCxn id="5" idx="5"/>
          </p:cNvCxnSpPr>
          <p:nvPr/>
        </p:nvCxnSpPr>
        <p:spPr>
          <a:xfrm rot="5400000">
            <a:off x="3695700" y="3245830"/>
            <a:ext cx="1588" cy="972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7" idx="3"/>
            <a:endCxn id="6" idx="5"/>
          </p:cNvCxnSpPr>
          <p:nvPr/>
        </p:nvCxnSpPr>
        <p:spPr>
          <a:xfrm rot="5400000">
            <a:off x="5029200" y="3207730"/>
            <a:ext cx="1588" cy="10483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62200" y="3745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81400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800600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Curved Connector 23"/>
          <p:cNvCxnSpPr>
            <a:stCxn id="6" idx="0"/>
            <a:endCxn id="4" idx="0"/>
          </p:cNvCxnSpPr>
          <p:nvPr/>
        </p:nvCxnSpPr>
        <p:spPr>
          <a:xfrm rot="16200000" flipV="1">
            <a:off x="3162300" y="2095500"/>
            <a:ext cx="1588" cy="2362200"/>
          </a:xfrm>
          <a:prstGeom prst="curvedConnector3">
            <a:avLst>
              <a:gd name="adj1" fmla="val 8855393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71800" y="1828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Curved Connector 31"/>
          <p:cNvCxnSpPr>
            <a:stCxn id="7" idx="4"/>
            <a:endCxn id="5" idx="4"/>
          </p:cNvCxnSpPr>
          <p:nvPr/>
        </p:nvCxnSpPr>
        <p:spPr>
          <a:xfrm rot="5400000">
            <a:off x="4381500" y="2476500"/>
            <a:ext cx="1588" cy="2667000"/>
          </a:xfrm>
          <a:prstGeom prst="curvedConnector3">
            <a:avLst>
              <a:gd name="adj1" fmla="val 8680903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267200" y="4800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Flow Cancellation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33400" y="2057400"/>
            <a:ext cx="337220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know the actual flow paths are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3 – 4 = 1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2 – 4 = 1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total flow = 2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algorithm 2 paths: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2 – 3 – 4 = 1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– 3 – 2 – 4 = 1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are these paths!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Flow Cancellation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526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194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1148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864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>
            <a:stCxn id="12" idx="6"/>
            <a:endCxn id="13" idx="2"/>
          </p:cNvCxnSpPr>
          <p:nvPr/>
        </p:nvCxnSpPr>
        <p:spPr>
          <a:xfrm>
            <a:off x="2209800" y="47625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6"/>
            <a:endCxn id="14" idx="2"/>
          </p:cNvCxnSpPr>
          <p:nvPr/>
        </p:nvCxnSpPr>
        <p:spPr>
          <a:xfrm>
            <a:off x="3276600" y="47625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6"/>
            <a:endCxn id="15" idx="2"/>
          </p:cNvCxnSpPr>
          <p:nvPr/>
        </p:nvCxnSpPr>
        <p:spPr>
          <a:xfrm>
            <a:off x="4572000" y="47625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0" y="5562600"/>
            <a:ext cx="3076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Edge 2-3 was cancelled by 3-2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this connect 2 paths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/>
          <p:cNvSpPr/>
          <p:nvPr/>
        </p:nvSpPr>
        <p:spPr>
          <a:xfrm rot="18838149">
            <a:off x="3307996" y="2722108"/>
            <a:ext cx="729283" cy="28517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Flow Cancellation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526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194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1148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864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>
            <a:stCxn id="12" idx="6"/>
            <a:endCxn id="13" idx="2"/>
          </p:cNvCxnSpPr>
          <p:nvPr/>
        </p:nvCxnSpPr>
        <p:spPr>
          <a:xfrm>
            <a:off x="2209800" y="47625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6"/>
            <a:endCxn id="15" idx="2"/>
          </p:cNvCxnSpPr>
          <p:nvPr/>
        </p:nvCxnSpPr>
        <p:spPr>
          <a:xfrm>
            <a:off x="4572000" y="47625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 rot="13137188">
            <a:off x="3176866" y="2777912"/>
            <a:ext cx="1027172" cy="285173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Flow Cancellation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6"/>
            <a:endCxn id="7" idx="2"/>
          </p:cNvCxnSpPr>
          <p:nvPr/>
        </p:nvCxnSpPr>
        <p:spPr>
          <a:xfrm>
            <a:off x="3276600" y="3543300"/>
            <a:ext cx="2209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526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194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86400" y="4495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>
            <a:stCxn id="12" idx="6"/>
            <a:endCxn id="13" idx="2"/>
          </p:cNvCxnSpPr>
          <p:nvPr/>
        </p:nvCxnSpPr>
        <p:spPr>
          <a:xfrm>
            <a:off x="2209800" y="47625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6"/>
            <a:endCxn id="15" idx="2"/>
          </p:cNvCxnSpPr>
          <p:nvPr/>
        </p:nvCxnSpPr>
        <p:spPr>
          <a:xfrm>
            <a:off x="3276600" y="4762500"/>
            <a:ext cx="2209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48000" y="5791200"/>
            <a:ext cx="168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right flows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Your Turn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914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9812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276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6482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>
            <a:stCxn id="14" idx="6"/>
            <a:endCxn id="17" idx="2"/>
          </p:cNvCxnSpPr>
          <p:nvPr/>
        </p:nvCxnSpPr>
        <p:spPr>
          <a:xfrm>
            <a:off x="13716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6"/>
            <a:endCxn id="19" idx="2"/>
          </p:cNvCxnSpPr>
          <p:nvPr/>
        </p:nvCxnSpPr>
        <p:spPr>
          <a:xfrm>
            <a:off x="24384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6"/>
            <a:endCxn id="20" idx="2"/>
          </p:cNvCxnSpPr>
          <p:nvPr/>
        </p:nvCxnSpPr>
        <p:spPr>
          <a:xfrm>
            <a:off x="37338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240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563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624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Curved Connector 27"/>
          <p:cNvCxnSpPr>
            <a:stCxn id="17" idx="0"/>
            <a:endCxn id="32" idx="0"/>
          </p:cNvCxnSpPr>
          <p:nvPr/>
        </p:nvCxnSpPr>
        <p:spPr>
          <a:xfrm rot="5400000" flipH="1" flipV="1">
            <a:off x="4229100" y="1257300"/>
            <a:ext cx="1588" cy="4038600"/>
          </a:xfrm>
          <a:prstGeom prst="curvedConnector3">
            <a:avLst>
              <a:gd name="adj1" fmla="val 5627319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14" idx="4"/>
            <a:endCxn id="19" idx="4"/>
          </p:cNvCxnSpPr>
          <p:nvPr/>
        </p:nvCxnSpPr>
        <p:spPr>
          <a:xfrm rot="16200000" flipH="1">
            <a:off x="2324100" y="2628900"/>
            <a:ext cx="1588" cy="2362200"/>
          </a:xfrm>
          <a:prstGeom prst="curvedConnector3">
            <a:avLst>
              <a:gd name="adj1" fmla="val 4667621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62400" y="2057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33600" y="4495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019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391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stCxn id="20" idx="6"/>
            <a:endCxn id="32" idx="2"/>
          </p:cNvCxnSpPr>
          <p:nvPr/>
        </p:nvCxnSpPr>
        <p:spPr>
          <a:xfrm>
            <a:off x="51054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2" idx="6"/>
            <a:endCxn id="33" idx="2"/>
          </p:cNvCxnSpPr>
          <p:nvPr/>
        </p:nvCxnSpPr>
        <p:spPr>
          <a:xfrm>
            <a:off x="6477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20" idx="4"/>
            <a:endCxn id="33" idx="4"/>
          </p:cNvCxnSpPr>
          <p:nvPr/>
        </p:nvCxnSpPr>
        <p:spPr>
          <a:xfrm rot="16200000" flipH="1">
            <a:off x="6248400" y="2438400"/>
            <a:ext cx="1588" cy="2743200"/>
          </a:xfrm>
          <a:prstGeom prst="curvedConnector3">
            <a:avLst>
              <a:gd name="adj1" fmla="val 6325279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414918" y="3581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86518" y="3581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96000" y="4812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the previous was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informal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way to represent the topic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Coursera has a course called “Discrete Inference and Learning in Artificial Vision”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Week 3 is Maximum flow and minimum cut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 very easy lecture with proof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min cut = max flow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think the way he do residual is wrong. Try given example here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algorithm is so simple. 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Loop: Find a path / Remove its flow / Add it to reverse arcs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find a path, we could do it using anyway that find a path. Theoretically, we must finish at some point.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good suggestion is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Dijkstra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variant to find max-min path. It is a path where min value on it is maximum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Then, this path is our best trial to push little times to reach the maximum flow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Exercise: Read about its complexity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142</TotalTime>
  <Words>1239</Words>
  <Application>Microsoft Office PowerPoint</Application>
  <PresentationFormat>On-screen Show (4:3)</PresentationFormat>
  <Paragraphs>356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Flow</vt:lpstr>
      <vt:lpstr>Max Flow - Min Cut</vt:lpstr>
      <vt:lpstr>Max Flow Problem</vt:lpstr>
      <vt:lpstr>Example</vt:lpstr>
      <vt:lpstr>Example</vt:lpstr>
      <vt:lpstr>Example</vt:lpstr>
      <vt:lpstr>A trivial but wrong algorithm</vt:lpstr>
      <vt:lpstr>Example</vt:lpstr>
      <vt:lpstr>Example</vt:lpstr>
      <vt:lpstr>Example</vt:lpstr>
      <vt:lpstr>Min Cut Problem</vt:lpstr>
      <vt:lpstr>Example</vt:lpstr>
      <vt:lpstr>Example</vt:lpstr>
      <vt:lpstr>Example</vt:lpstr>
      <vt:lpstr>Max Flow Min Cut Theorem</vt:lpstr>
      <vt:lpstr>Back to the algorithm</vt:lpstr>
      <vt:lpstr>Back to the algorithm</vt:lpstr>
      <vt:lpstr>Back to the algorithm</vt:lpstr>
      <vt:lpstr>Ford–Fulkerson method</vt:lpstr>
      <vt:lpstr>Ford–Fulkerson method</vt:lpstr>
      <vt:lpstr>Ford–Fulkerson method</vt:lpstr>
      <vt:lpstr>Ford–Fulkerson method</vt:lpstr>
      <vt:lpstr>Ford–Fulkerson method</vt:lpstr>
      <vt:lpstr>Ford–Fulkerson method</vt:lpstr>
      <vt:lpstr>Flow Cancellation</vt:lpstr>
      <vt:lpstr>Flow Cancellation</vt:lpstr>
      <vt:lpstr>Flow Cancellation</vt:lpstr>
      <vt:lpstr>Flow Cancellation</vt:lpstr>
      <vt:lpstr>Your Turn </vt:lpstr>
      <vt:lpstr>….</vt:lpstr>
      <vt:lpstr>Implementation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Flow - Min Cut</dc:title>
  <dc:creator>Mostafa Saad</dc:creator>
  <cp:lastModifiedBy>Mostafa Saad</cp:lastModifiedBy>
  <cp:revision>19</cp:revision>
  <dcterms:created xsi:type="dcterms:W3CDTF">2014-02-22T19:06:56Z</dcterms:created>
  <dcterms:modified xsi:type="dcterms:W3CDTF">2014-02-24T07:08:41Z</dcterms:modified>
</cp:coreProperties>
</file>